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1"/>
  </p:notesMasterIdLst>
  <p:sldIdLst>
    <p:sldId id="256" r:id="rId2"/>
    <p:sldId id="258" r:id="rId3"/>
    <p:sldId id="260" r:id="rId4"/>
    <p:sldId id="261" r:id="rId5"/>
    <p:sldId id="263" r:id="rId6"/>
    <p:sldId id="264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4" r:id="rId16"/>
    <p:sldId id="275" r:id="rId17"/>
    <p:sldId id="276" r:id="rId18"/>
    <p:sldId id="277" r:id="rId19"/>
    <p:sldId id="278" r:id="rId20"/>
    <p:sldId id="279" r:id="rId21"/>
    <p:sldId id="283" r:id="rId22"/>
    <p:sldId id="282" r:id="rId23"/>
    <p:sldId id="280" r:id="rId24"/>
    <p:sldId id="284" r:id="rId25"/>
    <p:sldId id="285" r:id="rId26"/>
    <p:sldId id="286" r:id="rId27"/>
    <p:sldId id="287" r:id="rId28"/>
    <p:sldId id="288" r:id="rId29"/>
    <p:sldId id="272" r:id="rId3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85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F2F034-1E96-4F96-BF9C-F7D95044FB50}" type="datetimeFigureOut">
              <a:rPr lang="pt-BR" smtClean="0"/>
              <a:t>10/03/2014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8E5137-3EE0-48F1-8298-269108269C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383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66CBAE-EE06-43A2-A2CA-04739136E358}" type="slidenum">
              <a:rPr lang="en-US"/>
              <a:pPr/>
              <a:t>3</a:t>
            </a:fld>
            <a:endParaRPr lang="en-US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9_02.jpg"/>
          <p:cNvPicPr preferRelativeResize="0">
            <a:picLocks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54112" y="0"/>
            <a:ext cx="73152" cy="6858000"/>
          </a:xfrm>
          <a:prstGeom prst="rect">
            <a:avLst/>
          </a:prstGeom>
        </p:spPr>
      </p:pic>
      <p:pic>
        <p:nvPicPr>
          <p:cNvPr id="7" name="Picture 6" descr="1_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0" y="0"/>
            <a:ext cx="1333500" cy="6858000"/>
          </a:xfrm>
          <a:prstGeom prst="rect">
            <a:avLst/>
          </a:prstGeom>
        </p:spPr>
      </p:pic>
      <p:grpSp>
        <p:nvGrpSpPr>
          <p:cNvPr id="4" name="Group 17"/>
          <p:cNvGrpSpPr/>
          <p:nvPr/>
        </p:nvGrpSpPr>
        <p:grpSpPr>
          <a:xfrm>
            <a:off x="0" y="6630352"/>
            <a:ext cx="9144000" cy="228600"/>
            <a:chOff x="0" y="6582727"/>
            <a:chExt cx="9144000" cy="228600"/>
          </a:xfrm>
        </p:grpSpPr>
        <p:sp>
          <p:nvSpPr>
            <p:cNvPr id="10" name="Rectangle 9"/>
            <p:cNvSpPr/>
            <p:nvPr/>
          </p:nvSpPr>
          <p:spPr>
            <a:xfrm>
              <a:off x="7813040" y="6582727"/>
              <a:ext cx="1330960" cy="228600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134101" y="6582727"/>
              <a:ext cx="1609724" cy="228600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6582727"/>
              <a:ext cx="6096000" cy="228600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371600"/>
            <a:ext cx="6781800" cy="1069975"/>
          </a:xfrm>
        </p:spPr>
        <p:txBody>
          <a:bodyPr bIns="0" anchor="b" anchorCtr="0">
            <a:noAutofit/>
          </a:bodyPr>
          <a:lstStyle>
            <a:lvl1pPr>
              <a:defRPr sz="420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438400"/>
            <a:ext cx="6781800" cy="762000"/>
          </a:xfrm>
        </p:spPr>
        <p:txBody>
          <a:bodyPr lIns="0" tIns="0" rIns="0">
            <a:norm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>
          <a:xfrm>
            <a:off x="6210300" y="6610350"/>
            <a:ext cx="1524000" cy="228600"/>
          </a:xfrm>
        </p:spPr>
        <p:txBody>
          <a:bodyPr/>
          <a:lstStyle/>
          <a:p>
            <a:fld id="{C7BF5D29-3882-42EA-9AB1-005A7F77CA51}" type="datetimeFigureOut">
              <a:rPr lang="pt-BR" smtClean="0"/>
              <a:t>06/03/2014</a:t>
            </a:fld>
            <a:endParaRPr lang="pt-BR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1"/>
          </p:nvPr>
        </p:nvSpPr>
        <p:spPr>
          <a:xfrm>
            <a:off x="7924800" y="6610350"/>
            <a:ext cx="1198880" cy="228600"/>
          </a:xfrm>
        </p:spPr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>
          <a:xfrm>
            <a:off x="457200" y="6611112"/>
            <a:ext cx="5600700" cy="228600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0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32" name="Rectangle 31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bar_06.png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pic>
        <p:nvPicPr>
          <p:cNvPr id="10" name="Picture 9" descr="2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F5D29-3882-42EA-9AB1-005A7F77CA51}" type="datetimeFigureOut">
              <a:rPr lang="pt-BR" smtClean="0"/>
              <a:t>06/03/2014</a:t>
            </a:fld>
            <a:endParaRPr lang="pt-BR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2"/>
          <p:cNvGrpSpPr/>
          <p:nvPr/>
        </p:nvGrpSpPr>
        <p:grpSpPr>
          <a:xfrm>
            <a:off x="1438274" y="6629400"/>
            <a:ext cx="7705726" cy="228600"/>
            <a:chOff x="1438274" y="6629400"/>
            <a:chExt cx="7705726" cy="228600"/>
          </a:xfrm>
        </p:grpSpPr>
        <p:sp>
          <p:nvSpPr>
            <p:cNvPr id="27" name="Rectangle 26"/>
            <p:cNvSpPr/>
            <p:nvPr/>
          </p:nvSpPr>
          <p:spPr>
            <a:xfrm>
              <a:off x="8763000" y="662940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42480" y="662940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438274" y="6629400"/>
              <a:ext cx="5663565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5245101"/>
            <a:ext cx="6934199" cy="1155700"/>
          </a:xfrm>
        </p:spPr>
        <p:txBody>
          <a:bodyPr anchor="t">
            <a:normAutofit/>
          </a:bodyPr>
          <a:lstStyle>
            <a:lvl1pPr algn="r">
              <a:defRPr sz="4200" b="0" i="0" cap="none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2600" y="4114800"/>
            <a:ext cx="6934199" cy="1130300"/>
          </a:xfrm>
        </p:spPr>
        <p:txBody>
          <a:bodyPr anchor="b"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pic>
        <p:nvPicPr>
          <p:cNvPr id="10" name="Picture 9" descr="9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63980" cy="6858000"/>
          </a:xfrm>
          <a:prstGeom prst="rect">
            <a:avLst/>
          </a:prstGeom>
        </p:spPr>
      </p:pic>
      <p:sp>
        <p:nvSpPr>
          <p:cNvPr id="24" name="Date Placeholder 23"/>
          <p:cNvSpPr>
            <a:spLocks noGrp="1"/>
          </p:cNvSpPr>
          <p:nvPr>
            <p:ph type="dt" sz="half" idx="10"/>
          </p:nvPr>
        </p:nvSpPr>
        <p:spPr>
          <a:xfrm>
            <a:off x="7162800" y="6610350"/>
            <a:ext cx="1524000" cy="246888"/>
          </a:xfrm>
        </p:spPr>
        <p:txBody>
          <a:bodyPr/>
          <a:lstStyle/>
          <a:p>
            <a:fld id="{C7BF5D29-3882-42EA-9AB1-005A7F77CA51}" type="datetimeFigureOut">
              <a:rPr lang="pt-BR" smtClean="0"/>
              <a:t>06/03/2014</a:t>
            </a:fld>
            <a:endParaRPr lang="pt-BR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1"/>
          </p:nvPr>
        </p:nvSpPr>
        <p:spPr>
          <a:xfrm>
            <a:off x="8742680" y="6610350"/>
            <a:ext cx="381000" cy="246888"/>
          </a:xfrm>
        </p:spPr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2"/>
          </p:nvPr>
        </p:nvSpPr>
        <p:spPr>
          <a:xfrm>
            <a:off x="1524000" y="6610350"/>
            <a:ext cx="5562600" cy="247650"/>
          </a:xfrm>
        </p:spPr>
        <p:txBody>
          <a:bodyPr/>
          <a:lstStyle/>
          <a:p>
            <a:endParaRPr lang="pt-BR"/>
          </a:p>
        </p:txBody>
      </p:sp>
      <p:pic>
        <p:nvPicPr>
          <p:cNvPr id="20" name="Picture 19" descr="vert_bar_02.png"/>
          <p:cNvPicPr preferRelativeResize="0">
            <a:picLocks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62456" y="0"/>
            <a:ext cx="731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r_06.png"/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pic>
        <p:nvPicPr>
          <p:cNvPr id="12" name="Picture 11" descr="3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457200" y="1981200"/>
            <a:ext cx="4038600" cy="41148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4"/>
          </p:nvPr>
        </p:nvSpPr>
        <p:spPr>
          <a:xfrm>
            <a:off x="4648200" y="1981200"/>
            <a:ext cx="4038600" cy="41148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grpSp>
        <p:nvGrpSpPr>
          <p:cNvPr id="3" name="Group 14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7" name="Rectangle 16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Date Placeholder 19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7BF5D29-3882-42EA-9AB1-005A7F77CA51}" type="datetimeFigureOut">
              <a:rPr lang="pt-BR" smtClean="0"/>
              <a:t>06/03/2014</a:t>
            </a:fld>
            <a:endParaRPr lang="pt-BR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4040188" cy="411162"/>
          </a:xfrm>
        </p:spPr>
        <p:txBody>
          <a:bodyPr lIns="0" r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1" i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pic>
        <p:nvPicPr>
          <p:cNvPr id="14" name="Picture 13" descr="4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3"/>
          </p:nvPr>
        </p:nvSpPr>
        <p:spPr>
          <a:xfrm>
            <a:off x="4648200" y="1981200"/>
            <a:ext cx="4040188" cy="411162"/>
          </a:xfrm>
        </p:spPr>
        <p:txBody>
          <a:bodyPr lIns="0" r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1" i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57200" y="2438400"/>
            <a:ext cx="4038600" cy="36576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5"/>
          </p:nvPr>
        </p:nvSpPr>
        <p:spPr>
          <a:xfrm>
            <a:off x="4648200" y="2438400"/>
            <a:ext cx="4038600" cy="36576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pic>
        <p:nvPicPr>
          <p:cNvPr id="16" name="Picture 15" descr="bar_06.png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grpSp>
        <p:nvGrpSpPr>
          <p:cNvPr id="4" name="Group 17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20" name="Rectangle 19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Date Placeholder 22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7BF5D29-3882-42EA-9AB1-005A7F77CA51}" type="datetimeFigureOut">
              <a:rPr lang="pt-BR" smtClean="0"/>
              <a:t>06/03/2014</a:t>
            </a:fld>
            <a:endParaRPr lang="pt-BR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pic>
        <p:nvPicPr>
          <p:cNvPr id="10" name="Picture 9" descr="2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  <p:pic>
        <p:nvPicPr>
          <p:cNvPr id="11" name="Picture 10" descr="bar_06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grpSp>
        <p:nvGrpSpPr>
          <p:cNvPr id="3" name="Group 11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3" name="Rectangle 12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F5D29-3882-42EA-9AB1-005A7F77CA51}" type="datetimeFigureOut">
              <a:rPr lang="pt-BR" smtClean="0"/>
              <a:t>06/03/2014</a:t>
            </a:fld>
            <a:endParaRPr lang="pt-BR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0" name="Rectangle 9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F5D29-3882-42EA-9AB1-005A7F77CA51}" type="datetimeFigureOut">
              <a:rPr lang="pt-BR" smtClean="0"/>
              <a:t>06/03/2014</a:t>
            </a:fld>
            <a:endParaRPr lang="pt-BR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3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  <p:sp>
        <p:nvSpPr>
          <p:cNvPr id="13" name="Text Placeholder 2"/>
          <p:cNvSpPr>
            <a:spLocks noGrp="1"/>
          </p:cNvSpPr>
          <p:nvPr>
            <p:ph type="title"/>
          </p:nvPr>
        </p:nvSpPr>
        <p:spPr>
          <a:xfrm>
            <a:off x="457200" y="1524000"/>
            <a:ext cx="3352800" cy="914400"/>
          </a:xfrm>
        </p:spPr>
        <p:txBody>
          <a:bodyPr lIns="0" r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i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título mestre</a:t>
            </a:r>
            <a:endParaRPr lang="en-US" smtClean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419600" y="1524000"/>
            <a:ext cx="4267200" cy="41148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1" y="2514599"/>
            <a:ext cx="3352800" cy="312724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pic>
        <p:nvPicPr>
          <p:cNvPr id="14" name="Picture 13" descr="bar_06.png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grpSp>
        <p:nvGrpSpPr>
          <p:cNvPr id="2" name="Group 15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7" name="Rectangle 16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Date Placeholder 19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7BF5D29-3882-42EA-9AB1-005A7F77CA51}" type="datetimeFigureOut">
              <a:rPr lang="pt-BR" smtClean="0"/>
              <a:t>06/03/2014</a:t>
            </a:fld>
            <a:endParaRPr lang="pt-BR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5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3" name="Rectangle 12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048"/>
            <a:ext cx="3355848" cy="914400"/>
          </a:xfrm>
        </p:spPr>
        <p:txBody>
          <a:bodyPr anchor="b">
            <a:normAutofit/>
          </a:bodyPr>
          <a:lstStyle>
            <a:lvl1pPr algn="l">
              <a:defRPr lang="en-US" sz="1800" b="1" i="0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5696" y="1554480"/>
            <a:ext cx="4270248" cy="4059936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514600"/>
            <a:ext cx="3355848" cy="312724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n-US" sz="1400" kern="12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F5D29-3882-42EA-9AB1-005A7F77CA51}" type="datetimeFigureOut">
              <a:rPr lang="pt-BR" smtClean="0"/>
              <a:t>06/03/2014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Picture 7" descr="4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  <p:pic>
        <p:nvPicPr>
          <p:cNvPr id="9" name="Picture 8" descr="bar_06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4419600" y="1524000"/>
            <a:ext cx="4267200" cy="1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419600" y="5637212"/>
            <a:ext cx="4267200" cy="1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grpSp>
        <p:nvGrpSpPr>
          <p:cNvPr id="4" name="Group 10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2" name="Rectangle 11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F5D29-3882-42EA-9AB1-005A7F77CA51}" type="datetimeFigureOut">
              <a:rPr lang="pt-BR" smtClean="0"/>
              <a:t>06/03/2014</a:t>
            </a:fld>
            <a:endParaRPr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1" name="Picture 10" descr="bar_06.png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pic>
        <p:nvPicPr>
          <p:cNvPr id="14" name="Picture 13" descr="2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89085"/>
            <a:ext cx="2057400" cy="553707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85216"/>
            <a:ext cx="6019800" cy="554126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grpSp>
        <p:nvGrpSpPr>
          <p:cNvPr id="4" name="Group 10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2" name="Rectangle 11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F5D29-3882-42EA-9AB1-005A7F77CA51}" type="datetimeFigureOut">
              <a:rPr lang="pt-BR" smtClean="0"/>
              <a:t>06/03/2014</a:t>
            </a:fld>
            <a:endParaRPr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1" name="Picture 10" descr="bar_06.png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pic>
        <p:nvPicPr>
          <p:cNvPr id="14" name="Picture 13" descr="2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34000">
                <a:schemeClr val="bg1">
                  <a:lumMod val="75000"/>
                  <a:alpha val="61000"/>
                </a:schemeClr>
              </a:gs>
              <a:gs pos="38000">
                <a:schemeClr val="bg1">
                  <a:lumMod val="75000"/>
                  <a:alpha val="76000"/>
                </a:schemeClr>
              </a:gs>
              <a:gs pos="100000">
                <a:schemeClr val="bg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91440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41449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62800" y="6610350"/>
            <a:ext cx="15240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/>
                </a:solidFill>
              </a:defRPr>
            </a:lvl1pPr>
          </a:lstStyle>
          <a:p>
            <a:fld id="{C7BF5D29-3882-42EA-9AB1-005A7F77CA51}" type="datetimeFigureOut">
              <a:rPr lang="pt-BR" smtClean="0"/>
              <a:t>06/03/2014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610350"/>
            <a:ext cx="66294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2680" y="6610350"/>
            <a:ext cx="3810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/>
                </a:solidFill>
              </a:defRPr>
            </a:lvl1pPr>
          </a:lstStyle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 typeface="Wingdings" pitchFamily="2" charset="2"/>
        <a:buChar char="§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 typeface="Wingdings" pitchFamily="2" charset="2"/>
        <a:buNone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>
            <a:lumMod val="50000"/>
            <a:lumOff val="50000"/>
          </a:schemeClr>
        </a:buClr>
        <a:buFont typeface="Wingdings" pitchFamily="2" charset="2"/>
        <a:buNone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>
            <a:lumMod val="50000"/>
            <a:lumOff val="50000"/>
          </a:schemeClr>
        </a:buClr>
        <a:buFont typeface="Wingdings" pitchFamily="2" charset="2"/>
        <a:buNone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8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buratto.org/otica/Indice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sz="8800" dirty="0" smtClean="0"/>
              <a:t>Computação Gráfica</a:t>
            </a:r>
            <a:endParaRPr lang="pt-BR" sz="88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Sistemas Gráficos e Sistema de Coordenadas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5121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 smtClean="0"/>
              <a:t>“A computação gráfica é matemática e arte”</a:t>
            </a:r>
          </a:p>
          <a:p>
            <a:r>
              <a:rPr lang="pt-BR" sz="2400" dirty="0"/>
              <a:t>“Conjunto de ferramentas e técnicas para converter dados para ou de um dispositivo gráfico através do computador</a:t>
            </a:r>
            <a:r>
              <a:rPr lang="pt-BR" sz="2400" dirty="0" smtClean="0"/>
              <a:t>”</a:t>
            </a:r>
          </a:p>
          <a:p>
            <a:r>
              <a:rPr lang="pt-BR" sz="2400" dirty="0" smtClean="0"/>
              <a:t>“</a:t>
            </a:r>
            <a:r>
              <a:rPr lang="pt-BR" sz="2400" dirty="0"/>
              <a:t>Conjunto de métodos e técnicas computacionais para a representação de forma gráfica, através de um computador, de objetos de um mundo real (ou virtual</a:t>
            </a:r>
            <a:r>
              <a:rPr lang="pt-BR" sz="2400" dirty="0" smtClean="0"/>
              <a:t>).”</a:t>
            </a:r>
          </a:p>
          <a:p>
            <a:r>
              <a:rPr lang="pt-BR" sz="2400" dirty="0" smtClean="0"/>
              <a:t>“Computação Gráfica é a área que estuda os processos computacionais envolvendo modelos geométricos e imagens digitais”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36708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Computação Gráfica</a:t>
            </a:r>
          </a:p>
        </p:txBody>
      </p:sp>
      <p:sp>
        <p:nvSpPr>
          <p:cNvPr id="7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13ADE-5D6C-4E0B-9B2E-15A071B9671F}" type="slidenum">
              <a:rPr lang="en-US"/>
              <a:pPr/>
              <a:t>3</a:t>
            </a:fld>
            <a:endParaRPr lang="en-US"/>
          </a:p>
        </p:txBody>
      </p:sp>
      <p:pic>
        <p:nvPicPr>
          <p:cNvPr id="11268" name="Picture 4" descr="Figura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2397671"/>
            <a:ext cx="4572000" cy="2903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4788024" y="1628800"/>
            <a:ext cx="4249737" cy="1600438"/>
          </a:xfrm>
          <a:prstGeom prst="rect">
            <a:avLst/>
          </a:prstGeom>
          <a:solidFill>
            <a:srgbClr val="FF5050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800" dirty="0"/>
              <a:t>Criação </a:t>
            </a:r>
            <a:r>
              <a:rPr lang="pt-BR" sz="2800" dirty="0" smtClean="0"/>
              <a:t>das </a:t>
            </a:r>
            <a:r>
              <a:rPr lang="pt-BR" sz="2800" dirty="0"/>
              <a:t>imagens, representações </a:t>
            </a:r>
            <a:r>
              <a:rPr lang="pt-BR" sz="2800" dirty="0" smtClean="0"/>
              <a:t>visuais.</a:t>
            </a:r>
          </a:p>
          <a:p>
            <a:pPr algn="ctr">
              <a:spcBef>
                <a:spcPct val="50000"/>
              </a:spcBef>
            </a:pPr>
            <a:r>
              <a:rPr lang="pt-BR" sz="2800" b="1" dirty="0" smtClean="0"/>
              <a:t>Dados </a:t>
            </a:r>
            <a:r>
              <a:rPr lang="pt-BR" sz="2800" b="1" dirty="0" smtClean="0">
                <a:sym typeface="Wingdings" pitchFamily="2" charset="2"/>
              </a:rPr>
              <a:t></a:t>
            </a:r>
            <a:r>
              <a:rPr lang="pt-BR" sz="2800" b="1" dirty="0" smtClean="0"/>
              <a:t> Imagens</a:t>
            </a:r>
            <a:endParaRPr lang="pt-BR" sz="2800" b="1" dirty="0"/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4788024" y="3340730"/>
            <a:ext cx="4249737" cy="1600438"/>
          </a:xfrm>
          <a:prstGeom prst="rect">
            <a:avLst/>
          </a:prstGeom>
          <a:solidFill>
            <a:srgbClr val="66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800" dirty="0" smtClean="0"/>
              <a:t>Melhoria das </a:t>
            </a:r>
            <a:r>
              <a:rPr lang="pt-BR" sz="2800" dirty="0"/>
              <a:t>Imagens, transformações, realce, </a:t>
            </a:r>
            <a:r>
              <a:rPr lang="pt-BR" sz="2800" dirty="0" smtClean="0"/>
              <a:t>...</a:t>
            </a:r>
          </a:p>
          <a:p>
            <a:pPr algn="ctr">
              <a:spcBef>
                <a:spcPct val="50000"/>
              </a:spcBef>
            </a:pPr>
            <a:r>
              <a:rPr lang="pt-BR" sz="2800" b="1" dirty="0" smtClean="0"/>
              <a:t>Imagens </a:t>
            </a:r>
            <a:r>
              <a:rPr lang="pt-BR" sz="2800" b="1" dirty="0" smtClean="0">
                <a:sym typeface="Wingdings" pitchFamily="2" charset="2"/>
              </a:rPr>
              <a:t></a:t>
            </a:r>
            <a:r>
              <a:rPr lang="pt-BR" sz="2800" b="1" dirty="0" smtClean="0"/>
              <a:t> Imagens</a:t>
            </a:r>
            <a:endParaRPr lang="pt-BR" sz="2800" b="1" dirty="0"/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4788594" y="5051325"/>
            <a:ext cx="4249738" cy="1600438"/>
          </a:xfrm>
          <a:prstGeom prst="rect">
            <a:avLst/>
          </a:pr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800" dirty="0" smtClean="0"/>
              <a:t>Obtenção de características </a:t>
            </a:r>
            <a:r>
              <a:rPr lang="pt-BR" sz="2800" dirty="0"/>
              <a:t>a partir da </a:t>
            </a:r>
            <a:r>
              <a:rPr lang="pt-BR" sz="2800" dirty="0" smtClean="0"/>
              <a:t>imagem</a:t>
            </a:r>
          </a:p>
          <a:p>
            <a:pPr algn="ctr">
              <a:spcBef>
                <a:spcPct val="50000"/>
              </a:spcBef>
            </a:pPr>
            <a:r>
              <a:rPr lang="pt-BR" sz="2800" b="1" dirty="0" smtClean="0"/>
              <a:t>Imagens </a:t>
            </a:r>
            <a:r>
              <a:rPr lang="pt-BR" sz="2800" b="1" dirty="0" smtClean="0">
                <a:sym typeface="Wingdings" pitchFamily="2" charset="2"/>
              </a:rPr>
              <a:t></a:t>
            </a:r>
            <a:r>
              <a:rPr lang="pt-BR" sz="2800" b="1" dirty="0" smtClean="0"/>
              <a:t> Dados</a:t>
            </a:r>
            <a:endParaRPr lang="pt-BR" sz="2800" b="1" dirty="0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F49E-D4B0-4154-BC50-0DF83C7C2B94}" type="datetime9">
              <a:rPr lang="pt-BR" smtClean="0"/>
              <a:t>10/03/2014 08:12:21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67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Síntese de Imagens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Trata de técnicas </a:t>
            </a:r>
            <a:r>
              <a:rPr lang="pt-BR" dirty="0"/>
              <a:t>destinadas à criação e manipulação de imagens </a:t>
            </a:r>
            <a:r>
              <a:rPr lang="pt-BR" dirty="0" smtClean="0"/>
              <a:t>artificiais </a:t>
            </a:r>
            <a:r>
              <a:rPr lang="pt-BR" dirty="0"/>
              <a:t>a partir de modelos matemáticos e geométricos. </a:t>
            </a:r>
          </a:p>
          <a:p>
            <a:r>
              <a:rPr lang="pt-BR" dirty="0" smtClean="0"/>
              <a:t>Frequentemente </a:t>
            </a:r>
            <a:r>
              <a:rPr lang="pt-BR" dirty="0"/>
              <a:t>confundida com a própria </a:t>
            </a:r>
            <a:r>
              <a:rPr lang="pt-BR" dirty="0" smtClean="0"/>
              <a:t>Computação Gráfica</a:t>
            </a:r>
            <a:r>
              <a:rPr lang="pt-BR" dirty="0"/>
              <a:t>. </a:t>
            </a:r>
          </a:p>
          <a:p>
            <a:pPr lvl="1"/>
            <a:r>
              <a:rPr lang="pt-BR" dirty="0" smtClean="0"/>
              <a:t>Criação </a:t>
            </a:r>
            <a:r>
              <a:rPr lang="pt-BR" dirty="0"/>
              <a:t>de imagens abstratas; </a:t>
            </a:r>
          </a:p>
          <a:p>
            <a:pPr lvl="1"/>
            <a:r>
              <a:rPr lang="pt-BR" dirty="0" smtClean="0"/>
              <a:t>Visualização </a:t>
            </a:r>
            <a:r>
              <a:rPr lang="pt-BR" dirty="0"/>
              <a:t>de modelos matemáticos; </a:t>
            </a:r>
          </a:p>
          <a:p>
            <a:pPr lvl="1"/>
            <a:r>
              <a:rPr lang="pt-BR" dirty="0" smtClean="0"/>
              <a:t>Geração </a:t>
            </a:r>
            <a:r>
              <a:rPr lang="pt-BR" dirty="0"/>
              <a:t>de gráficos matemáticos e artísticos </a:t>
            </a:r>
          </a:p>
          <a:p>
            <a:pPr lvl="1"/>
            <a:r>
              <a:rPr lang="pt-BR" dirty="0" smtClean="0"/>
              <a:t>Edição </a:t>
            </a:r>
            <a:r>
              <a:rPr lang="pt-BR" dirty="0"/>
              <a:t>de desenhos e simulação </a:t>
            </a:r>
          </a:p>
        </p:txBody>
      </p:sp>
      <p:pic>
        <p:nvPicPr>
          <p:cNvPr id="1026" name="Picture 2" descr="http://images.macworld.com/images/article/2011/06/autocad-screenshotlarge-24076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798285"/>
            <a:ext cx="2952328" cy="1845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284984"/>
            <a:ext cx="4077255" cy="2971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1738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Síntese de Imagens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81200"/>
            <a:ext cx="5842992" cy="4144963"/>
          </a:xfrm>
        </p:spPr>
        <p:txBody>
          <a:bodyPr>
            <a:normAutofit lnSpcReduction="10000"/>
          </a:bodyPr>
          <a:lstStyle/>
          <a:p>
            <a:r>
              <a:rPr lang="pt-BR" dirty="0" smtClean="0"/>
              <a:t>A </a:t>
            </a:r>
            <a:r>
              <a:rPr lang="pt-BR" dirty="0"/>
              <a:t>síntese de imagens parte da descrição de objetos </a:t>
            </a:r>
            <a:r>
              <a:rPr lang="pt-BR" dirty="0" smtClean="0"/>
              <a:t>(tais como </a:t>
            </a:r>
            <a:r>
              <a:rPr lang="pt-BR" dirty="0"/>
              <a:t>segmentos de reta, polígonos, poliedros, esferas, </a:t>
            </a:r>
            <a:r>
              <a:rPr lang="pt-BR" dirty="0" err="1" smtClean="0"/>
              <a:t>etc</a:t>
            </a:r>
            <a:r>
              <a:rPr lang="pt-BR" dirty="0"/>
              <a:t>)</a:t>
            </a:r>
            <a:r>
              <a:rPr lang="pt-BR" dirty="0" smtClean="0"/>
              <a:t> </a:t>
            </a:r>
            <a:r>
              <a:rPr lang="pt-BR" dirty="0"/>
              <a:t>e produz uma imagem que atende a </a:t>
            </a:r>
            <a:r>
              <a:rPr lang="pt-BR" dirty="0" smtClean="0"/>
              <a:t>especificações </a:t>
            </a:r>
            <a:r>
              <a:rPr lang="pt-BR" dirty="0"/>
              <a:t>e que pode, em última instância, ser </a:t>
            </a:r>
            <a:r>
              <a:rPr lang="pt-BR" dirty="0" smtClean="0"/>
              <a:t>visualizada </a:t>
            </a:r>
            <a:r>
              <a:rPr lang="pt-BR" dirty="0"/>
              <a:t>em algum dispositivo (terminal de vídeo, </a:t>
            </a:r>
            <a:r>
              <a:rPr lang="pt-BR" dirty="0" smtClean="0"/>
              <a:t>plotter</a:t>
            </a:r>
            <a:r>
              <a:rPr lang="pt-BR" dirty="0"/>
              <a:t>, impressora, </a:t>
            </a:r>
            <a:r>
              <a:rPr lang="pt-BR" dirty="0" smtClean="0"/>
              <a:t>filme fotográfico, ...). </a:t>
            </a:r>
            <a:endParaRPr lang="pt-BR" dirty="0"/>
          </a:p>
          <a:p>
            <a:r>
              <a:rPr lang="pt-BR" dirty="0" smtClean="0"/>
              <a:t>As </a:t>
            </a:r>
            <a:r>
              <a:rPr lang="pt-BR" dirty="0"/>
              <a:t>imagens em questão constituem uma representação </a:t>
            </a:r>
            <a:r>
              <a:rPr lang="pt-BR" dirty="0" smtClean="0"/>
              <a:t>visual </a:t>
            </a:r>
            <a:r>
              <a:rPr lang="pt-BR" dirty="0"/>
              <a:t>de objetos bi- ou tridimensionais descritos através </a:t>
            </a:r>
            <a:r>
              <a:rPr lang="pt-BR" dirty="0" smtClean="0"/>
              <a:t>de especificações </a:t>
            </a:r>
            <a:r>
              <a:rPr lang="pt-BR" dirty="0"/>
              <a:t>abstratas. </a:t>
            </a:r>
            <a:endParaRPr lang="pt-BR" dirty="0" smtClean="0"/>
          </a:p>
          <a:p>
            <a:r>
              <a:rPr lang="pt-BR" dirty="0"/>
              <a:t>As imagens produzidas por esta subárea são geradas a partir de dados mantidos nos chamados Display-Files</a:t>
            </a:r>
          </a:p>
          <a:p>
            <a:endParaRPr lang="pt-BR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4844331"/>
            <a:ext cx="1422154" cy="2013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936" y="2852935"/>
            <a:ext cx="2448272" cy="1925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936" y="692696"/>
            <a:ext cx="2448272" cy="1943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3693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Processamento de Imagens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81200"/>
            <a:ext cx="5987008" cy="4144963"/>
          </a:xfrm>
        </p:spPr>
        <p:txBody>
          <a:bodyPr>
            <a:normAutofit/>
          </a:bodyPr>
          <a:lstStyle/>
          <a:p>
            <a:r>
              <a:rPr lang="pt-BR" dirty="0"/>
              <a:t>Envolve técnicas de transformação de imagens visando </a:t>
            </a:r>
            <a:r>
              <a:rPr lang="pt-BR" dirty="0" smtClean="0"/>
              <a:t>melhorar </a:t>
            </a:r>
            <a:r>
              <a:rPr lang="pt-BR" dirty="0"/>
              <a:t>a qualidade da imagem (foco, ruído, contraste) </a:t>
            </a:r>
          </a:p>
          <a:p>
            <a:pPr lvl="1"/>
            <a:r>
              <a:rPr lang="pt-BR" dirty="0" smtClean="0"/>
              <a:t>Montagens </a:t>
            </a:r>
            <a:r>
              <a:rPr lang="pt-BR" dirty="0"/>
              <a:t>de efeitos especiais </a:t>
            </a:r>
          </a:p>
          <a:p>
            <a:pPr lvl="1"/>
            <a:r>
              <a:rPr lang="pt-BR" dirty="0" smtClean="0"/>
              <a:t>Processamento </a:t>
            </a:r>
            <a:r>
              <a:rPr lang="pt-BR" dirty="0"/>
              <a:t>de imagens de satélites e aeronaves </a:t>
            </a:r>
          </a:p>
          <a:p>
            <a:pPr lvl="1"/>
            <a:r>
              <a:rPr lang="pt-BR" dirty="0" smtClean="0"/>
              <a:t>Retoques </a:t>
            </a:r>
            <a:r>
              <a:rPr lang="pt-BR" dirty="0"/>
              <a:t>de fotografias </a:t>
            </a:r>
          </a:p>
          <a:p>
            <a:r>
              <a:rPr lang="pt-BR" dirty="0" smtClean="0"/>
              <a:t>O processamento </a:t>
            </a:r>
            <a:r>
              <a:rPr lang="pt-BR" dirty="0"/>
              <a:t>de imagens parte de imagens já </a:t>
            </a:r>
            <a:r>
              <a:rPr lang="pt-BR" dirty="0" smtClean="0"/>
              <a:t>prontas, </a:t>
            </a:r>
            <a:r>
              <a:rPr lang="pt-BR" dirty="0"/>
              <a:t>as quais são transferidas para o </a:t>
            </a:r>
            <a:r>
              <a:rPr lang="pt-BR" dirty="0" smtClean="0"/>
              <a:t>computador </a:t>
            </a:r>
            <a:r>
              <a:rPr lang="pt-BR" dirty="0"/>
              <a:t>por mecanismos diversos - digitalização de fotos, </a:t>
            </a:r>
            <a:r>
              <a:rPr lang="pt-BR" dirty="0" smtClean="0"/>
              <a:t>tomadas </a:t>
            </a:r>
            <a:r>
              <a:rPr lang="pt-BR" dirty="0"/>
              <a:t>de uma câmera ou imagens de satélite - para serem </a:t>
            </a:r>
            <a:r>
              <a:rPr lang="pt-BR" dirty="0" smtClean="0"/>
              <a:t>manipuladas </a:t>
            </a:r>
            <a:r>
              <a:rPr lang="pt-BR" dirty="0"/>
              <a:t>visando diferentes objetivos.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3" y="4364296"/>
            <a:ext cx="2529377" cy="2089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 descr="https://encrypted-tbn0.gstatic.com/images?q=tbn:ANd9GcTx0ljuRJmpUWBA8D1V45MbcU74YYkIxFdubIQD5FNjeIsrl3cY0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1458660"/>
            <a:ext cx="2529377" cy="225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735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Análise de Imagens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Considera as imagens digitais e as analisa para </a:t>
            </a:r>
            <a:r>
              <a:rPr lang="pt-BR" dirty="0" smtClean="0"/>
              <a:t>obtenção </a:t>
            </a:r>
            <a:r>
              <a:rPr lang="pt-BR" dirty="0"/>
              <a:t>de características desejadas. </a:t>
            </a:r>
            <a:r>
              <a:rPr lang="pt-BR" dirty="0" smtClean="0"/>
              <a:t> </a:t>
            </a:r>
            <a:endParaRPr lang="pt-BR" dirty="0"/>
          </a:p>
          <a:p>
            <a:pPr lvl="1"/>
            <a:r>
              <a:rPr lang="pt-BR" dirty="0" smtClean="0"/>
              <a:t>Especificação </a:t>
            </a:r>
            <a:r>
              <a:rPr lang="pt-BR" dirty="0"/>
              <a:t>dos componentes de uma imagem a partir </a:t>
            </a:r>
            <a:r>
              <a:rPr lang="pt-BR" dirty="0" smtClean="0"/>
              <a:t>de </a:t>
            </a:r>
            <a:r>
              <a:rPr lang="pt-BR" dirty="0"/>
              <a:t>sua representação visual. </a:t>
            </a:r>
            <a:endParaRPr lang="pt-BR" dirty="0" smtClean="0"/>
          </a:p>
          <a:p>
            <a:pPr lvl="1"/>
            <a:r>
              <a:rPr lang="pt-BR" dirty="0" smtClean="0"/>
              <a:t>Produz </a:t>
            </a:r>
            <a:r>
              <a:rPr lang="pt-BR" dirty="0"/>
              <a:t>uma informação não pictórica da imagem a </a:t>
            </a:r>
            <a:r>
              <a:rPr lang="pt-BR" dirty="0" smtClean="0"/>
              <a:t>partir </a:t>
            </a:r>
            <a:r>
              <a:rPr lang="pt-BR" dirty="0"/>
              <a:t>da própria imagem (Ex.: as primitivas geométricas </a:t>
            </a:r>
            <a:r>
              <a:rPr lang="pt-BR" dirty="0" smtClean="0"/>
              <a:t>que </a:t>
            </a:r>
            <a:r>
              <a:rPr lang="pt-BR" dirty="0"/>
              <a:t>compõem a imagem, mapas térmicos, densidades).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3" y="4149080"/>
            <a:ext cx="3736059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5" y="4149080"/>
            <a:ext cx="4975521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1289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História da Computação Gráfica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55776" y="1981200"/>
            <a:ext cx="6131024" cy="4144963"/>
          </a:xfrm>
        </p:spPr>
        <p:txBody>
          <a:bodyPr/>
          <a:lstStyle/>
          <a:p>
            <a:r>
              <a:rPr lang="en-US" dirty="0" smtClean="0"/>
              <a:t>1950 - Ben </a:t>
            </a:r>
            <a:r>
              <a:rPr lang="en-US" dirty="0" err="1"/>
              <a:t>Laposky</a:t>
            </a:r>
            <a:r>
              <a:rPr lang="en-US" dirty="0"/>
              <a:t> </a:t>
            </a:r>
            <a:r>
              <a:rPr lang="en-US" dirty="0" err="1" smtClean="0"/>
              <a:t>criou</a:t>
            </a:r>
            <a:r>
              <a:rPr lang="en-US" dirty="0" smtClean="0"/>
              <a:t> </a:t>
            </a:r>
            <a:r>
              <a:rPr lang="en-US" dirty="0" err="1" smtClean="0"/>
              <a:t>imagem</a:t>
            </a:r>
            <a:r>
              <a:rPr lang="en-US" dirty="0" smtClean="0"/>
              <a:t> </a:t>
            </a:r>
            <a:r>
              <a:rPr lang="en-US" dirty="0" err="1" smtClean="0"/>
              <a:t>gráfica</a:t>
            </a:r>
            <a:r>
              <a:rPr lang="en-US" dirty="0" smtClean="0"/>
              <a:t> (</a:t>
            </a:r>
            <a:r>
              <a:rPr lang="en-US" dirty="0" err="1" smtClean="0"/>
              <a:t>osciloscópio</a:t>
            </a:r>
            <a:r>
              <a:rPr lang="en-US" dirty="0" smtClean="0"/>
              <a:t>).</a:t>
            </a:r>
          </a:p>
          <a:p>
            <a:r>
              <a:rPr lang="en-US" dirty="0" smtClean="0"/>
              <a:t>1951 – </a:t>
            </a:r>
            <a:r>
              <a:rPr lang="pt-BR" dirty="0"/>
              <a:t>1º</a:t>
            </a:r>
            <a:r>
              <a:rPr lang="en-US" dirty="0" smtClean="0"/>
              <a:t> </a:t>
            </a:r>
            <a:r>
              <a:rPr lang="en-US" dirty="0" err="1" smtClean="0"/>
              <a:t>Computador</a:t>
            </a:r>
            <a:r>
              <a:rPr lang="en-US" dirty="0" smtClean="0"/>
              <a:t> com video (Whirlwind no MIT)</a:t>
            </a:r>
          </a:p>
          <a:p>
            <a:r>
              <a:rPr lang="en-US" dirty="0" smtClean="0"/>
              <a:t>1955 – </a:t>
            </a:r>
            <a:r>
              <a:rPr lang="en-US" dirty="0" err="1" smtClean="0"/>
              <a:t>Introdução</a:t>
            </a:r>
            <a:r>
              <a:rPr lang="en-US" dirty="0" smtClean="0"/>
              <a:t> da </a:t>
            </a:r>
            <a:r>
              <a:rPr lang="en-US" dirty="0" err="1" smtClean="0"/>
              <a:t>caneta</a:t>
            </a:r>
            <a:r>
              <a:rPr lang="en-US" dirty="0" smtClean="0"/>
              <a:t> de </a:t>
            </a:r>
            <a:r>
              <a:rPr lang="en-US" dirty="0" err="1" smtClean="0"/>
              <a:t>lu</a:t>
            </a:r>
            <a:r>
              <a:rPr lang="en-US" dirty="0" err="1"/>
              <a:t>z</a:t>
            </a:r>
            <a:r>
              <a:rPr lang="en-US" dirty="0"/>
              <a:t> (light pen</a:t>
            </a:r>
            <a:r>
              <a:rPr lang="en-US" dirty="0" smtClean="0"/>
              <a:t>)</a:t>
            </a:r>
          </a:p>
          <a:p>
            <a:r>
              <a:rPr lang="en-US" dirty="0" smtClean="0"/>
              <a:t>1961 – </a:t>
            </a:r>
            <a:r>
              <a:rPr lang="pt-BR" dirty="0"/>
              <a:t>1º</a:t>
            </a:r>
            <a:r>
              <a:rPr lang="en-US" dirty="0" smtClean="0"/>
              <a:t> </a:t>
            </a:r>
            <a:r>
              <a:rPr lang="en-US" dirty="0" err="1" smtClean="0"/>
              <a:t>Vídeo</a:t>
            </a:r>
            <a:r>
              <a:rPr lang="en-US" dirty="0" smtClean="0"/>
              <a:t> game (</a:t>
            </a:r>
            <a:r>
              <a:rPr lang="en-US" dirty="0" err="1" smtClean="0"/>
              <a:t>spacewar</a:t>
            </a:r>
            <a:r>
              <a:rPr lang="en-US" dirty="0" smtClean="0"/>
              <a:t>) </a:t>
            </a:r>
            <a:r>
              <a:rPr lang="en-US" dirty="0" err="1" smtClean="0"/>
              <a:t>rodando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um </a:t>
            </a:r>
            <a:r>
              <a:rPr lang="en-US" dirty="0" err="1" smtClean="0"/>
              <a:t>osciloscopio</a:t>
            </a:r>
            <a:endParaRPr lang="en-US" dirty="0" smtClean="0"/>
          </a:p>
          <a:p>
            <a:r>
              <a:rPr lang="en-US" dirty="0" smtClean="0"/>
              <a:t>1963 – </a:t>
            </a:r>
            <a:r>
              <a:rPr lang="en-US" dirty="0" err="1" smtClean="0"/>
              <a:t>Invenção</a:t>
            </a:r>
            <a:r>
              <a:rPr lang="en-US" dirty="0" smtClean="0"/>
              <a:t> do mouse</a:t>
            </a:r>
          </a:p>
        </p:txBody>
      </p:sp>
      <p:pic>
        <p:nvPicPr>
          <p:cNvPr id="5122" name="Picture 2" descr="http://deseng.ryerson.ca/dokuwiki/_media/mec222:450px-laposky1.png?w=300&amp;tok=1be46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981200"/>
            <a:ext cx="2273982" cy="3031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928" y="4180956"/>
            <a:ext cx="2267744" cy="1700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67" y="3645024"/>
            <a:ext cx="4762500" cy="290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5031360"/>
            <a:ext cx="2857500" cy="156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598" y="3783585"/>
            <a:ext cx="2857500" cy="280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4365104"/>
            <a:ext cx="2415211" cy="2119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055" y="4443412"/>
            <a:ext cx="2857500" cy="192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tângulo 3"/>
          <p:cNvSpPr/>
          <p:nvPr/>
        </p:nvSpPr>
        <p:spPr>
          <a:xfrm>
            <a:off x="-36512" y="6516052"/>
            <a:ext cx="91578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http://deseng.ryerson.ca/dokuwiki/mec222:brief_history_of_computer_graphics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223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História da Computação Gráfica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1972</a:t>
            </a:r>
          </a:p>
          <a:p>
            <a:pPr lvl="1"/>
            <a:r>
              <a:rPr lang="pt-BR" dirty="0" smtClean="0"/>
              <a:t>Criação do </a:t>
            </a:r>
            <a:r>
              <a:rPr lang="pt-BR" dirty="0" err="1" smtClean="0"/>
              <a:t>pong</a:t>
            </a:r>
            <a:endParaRPr lang="pt-BR" dirty="0" smtClean="0"/>
          </a:p>
          <a:p>
            <a:pPr lvl="1"/>
            <a:r>
              <a:rPr lang="pt-BR" dirty="0" smtClean="0"/>
              <a:t>Introdução à tomografia Computadorizada</a:t>
            </a:r>
          </a:p>
          <a:p>
            <a:r>
              <a:rPr lang="pt-BR" dirty="0" smtClean="0"/>
              <a:t>1977 </a:t>
            </a:r>
          </a:p>
          <a:p>
            <a:pPr lvl="1"/>
            <a:r>
              <a:rPr lang="pt-BR" dirty="0" smtClean="0"/>
              <a:t>Apple II – 1º PC gráfico</a:t>
            </a:r>
          </a:p>
          <a:p>
            <a:pPr lvl="1"/>
            <a:r>
              <a:rPr lang="pt-BR" dirty="0" smtClean="0"/>
              <a:t>Filme Star Wars tem efeitos por computador</a:t>
            </a:r>
          </a:p>
          <a:p>
            <a:pPr lvl="1"/>
            <a:r>
              <a:rPr lang="pt-BR" dirty="0" smtClean="0"/>
              <a:t>CADCAM - 1º CAD 2D comercial</a:t>
            </a:r>
          </a:p>
          <a:p>
            <a:r>
              <a:rPr lang="pt-BR" dirty="0" smtClean="0"/>
              <a:t>1981 – 1º CAD 3D - </a:t>
            </a:r>
            <a:r>
              <a:rPr lang="pt-BR" dirty="0" err="1" smtClean="0"/>
              <a:t>Catia</a:t>
            </a:r>
            <a:endParaRPr lang="pt-BR" dirty="0" smtClean="0"/>
          </a:p>
          <a:p>
            <a:endParaRPr lang="pt-B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212" y="1867644"/>
            <a:ext cx="2465851" cy="184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1523" y="4149080"/>
            <a:ext cx="3116540" cy="2337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00637"/>
            <a:ext cx="1905000" cy="175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4769257"/>
            <a:ext cx="2733476" cy="2027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749" y="1700808"/>
            <a:ext cx="1790700" cy="255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0028" y="2204864"/>
            <a:ext cx="4083098" cy="2722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269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História da Computação Gráfica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81200"/>
            <a:ext cx="4627446" cy="4144963"/>
          </a:xfrm>
        </p:spPr>
        <p:txBody>
          <a:bodyPr/>
          <a:lstStyle/>
          <a:p>
            <a:r>
              <a:rPr lang="pt-BR" dirty="0" smtClean="0"/>
              <a:t>1982 </a:t>
            </a:r>
          </a:p>
          <a:p>
            <a:pPr lvl="1"/>
            <a:r>
              <a:rPr lang="pt-BR" dirty="0" smtClean="0"/>
              <a:t>TRON – 1º Filme a usar a CG de forma intensa</a:t>
            </a:r>
          </a:p>
          <a:p>
            <a:pPr lvl="1"/>
            <a:r>
              <a:rPr lang="pt-BR" dirty="0" err="1" smtClean="0"/>
              <a:t>AutoCad</a:t>
            </a:r>
            <a:endParaRPr lang="pt-BR" dirty="0" smtClean="0"/>
          </a:p>
          <a:p>
            <a:r>
              <a:rPr lang="pt-BR" dirty="0" smtClean="0"/>
              <a:t>1984 – Macintosh</a:t>
            </a:r>
          </a:p>
          <a:p>
            <a:r>
              <a:rPr lang="pt-BR" dirty="0" smtClean="0"/>
              <a:t>1987 – Placa VGA (640 x 480)</a:t>
            </a:r>
          </a:p>
          <a:p>
            <a:r>
              <a:rPr lang="pt-BR" dirty="0" smtClean="0"/>
              <a:t>1989 – Placa SVGA (1024×768)</a:t>
            </a:r>
          </a:p>
          <a:p>
            <a:r>
              <a:rPr lang="pt-BR" dirty="0" smtClean="0"/>
              <a:t>1993 – Jurassic Park</a:t>
            </a:r>
          </a:p>
          <a:p>
            <a:r>
              <a:rPr lang="pt-BR" dirty="0" smtClean="0"/>
              <a:t>1995 – </a:t>
            </a:r>
            <a:r>
              <a:rPr lang="pt-BR" dirty="0" err="1" smtClean="0"/>
              <a:t>Toy</a:t>
            </a:r>
            <a:r>
              <a:rPr lang="pt-BR" dirty="0" smtClean="0"/>
              <a:t> </a:t>
            </a:r>
            <a:r>
              <a:rPr lang="pt-BR" dirty="0" err="1" smtClean="0"/>
              <a:t>Story</a:t>
            </a:r>
            <a:r>
              <a:rPr lang="pt-BR" dirty="0" smtClean="0"/>
              <a:t> (1º filme 100% CG)</a:t>
            </a:r>
          </a:p>
          <a:p>
            <a:r>
              <a:rPr lang="pt-BR" dirty="0" smtClean="0"/>
              <a:t>....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1772816"/>
            <a:ext cx="3426642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6509" y="2060848"/>
            <a:ext cx="2784047" cy="3264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3896693"/>
            <a:ext cx="47625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8321" y="2060848"/>
            <a:ext cx="3014671" cy="4499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17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Progressos Obtidos nos Anos 60 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00808"/>
            <a:ext cx="3390131" cy="243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700809"/>
            <a:ext cx="3106302" cy="243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221088"/>
            <a:ext cx="3084429" cy="2439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781" y="4374271"/>
            <a:ext cx="3070659" cy="2439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eta para a direita 3"/>
          <p:cNvSpPr/>
          <p:nvPr/>
        </p:nvSpPr>
        <p:spPr>
          <a:xfrm>
            <a:off x="3923928" y="2492896"/>
            <a:ext cx="564149" cy="4274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 para baixo 4"/>
          <p:cNvSpPr/>
          <p:nvPr/>
        </p:nvSpPr>
        <p:spPr>
          <a:xfrm rot="3593251">
            <a:off x="4275701" y="3420712"/>
            <a:ext cx="424749" cy="4816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 para a direita 10"/>
          <p:cNvSpPr/>
          <p:nvPr/>
        </p:nvSpPr>
        <p:spPr>
          <a:xfrm>
            <a:off x="4649965" y="5440640"/>
            <a:ext cx="564149" cy="4274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11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Progressos </a:t>
            </a:r>
            <a:r>
              <a:rPr lang="pt-BR" dirty="0"/>
              <a:t>Obtidos nos Anos 70 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704638"/>
            <a:ext cx="3240360" cy="251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700808"/>
            <a:ext cx="3315323" cy="251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261433"/>
            <a:ext cx="3154112" cy="2488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198" y="4221088"/>
            <a:ext cx="3171058" cy="2528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Seta para a direita 7"/>
          <p:cNvSpPr/>
          <p:nvPr/>
        </p:nvSpPr>
        <p:spPr>
          <a:xfrm>
            <a:off x="3923928" y="2492896"/>
            <a:ext cx="564149" cy="4274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 para baixo 8"/>
          <p:cNvSpPr/>
          <p:nvPr/>
        </p:nvSpPr>
        <p:spPr>
          <a:xfrm rot="3593251">
            <a:off x="4275701" y="3420712"/>
            <a:ext cx="424749" cy="4816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 para a direita 9"/>
          <p:cNvSpPr/>
          <p:nvPr/>
        </p:nvSpPr>
        <p:spPr>
          <a:xfrm>
            <a:off x="4649965" y="5440640"/>
            <a:ext cx="564149" cy="4274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399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Progressos Obtidos nos Anos 80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04988"/>
            <a:ext cx="2880320" cy="2455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434" y="1770885"/>
            <a:ext cx="3211076" cy="248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377909"/>
            <a:ext cx="3291041" cy="2480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061" y="4377909"/>
            <a:ext cx="3240360" cy="2456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Seta para a direita 7"/>
          <p:cNvSpPr/>
          <p:nvPr/>
        </p:nvSpPr>
        <p:spPr>
          <a:xfrm>
            <a:off x="3923928" y="2492896"/>
            <a:ext cx="564149" cy="4274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 para baixo 8"/>
          <p:cNvSpPr/>
          <p:nvPr/>
        </p:nvSpPr>
        <p:spPr>
          <a:xfrm rot="3593251">
            <a:off x="4275701" y="3420712"/>
            <a:ext cx="424749" cy="4816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 para a direita 9"/>
          <p:cNvSpPr/>
          <p:nvPr/>
        </p:nvSpPr>
        <p:spPr>
          <a:xfrm>
            <a:off x="4649965" y="5440640"/>
            <a:ext cx="564149" cy="4274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1322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Dispositivos de CG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Primeiros dispositivos desenvolvidos para representar objetos gráficos foram os displays vetoriais (</a:t>
            </a:r>
            <a:r>
              <a:rPr lang="pt-BR" b="1" i="1" dirty="0" err="1"/>
              <a:t>random</a:t>
            </a:r>
            <a:r>
              <a:rPr lang="pt-BR" b="1" i="1" dirty="0"/>
              <a:t> </a:t>
            </a:r>
            <a:r>
              <a:rPr lang="pt-BR" b="1" i="1" dirty="0" err="1"/>
              <a:t>scan</a:t>
            </a:r>
            <a:r>
              <a:rPr lang="pt-BR" b="1" i="1" dirty="0"/>
              <a:t> displays</a:t>
            </a:r>
            <a:r>
              <a:rPr lang="pt-BR" dirty="0"/>
              <a:t>). </a:t>
            </a:r>
          </a:p>
          <a:p>
            <a:r>
              <a:rPr lang="pt-BR" dirty="0"/>
              <a:t>Não tinham memória de vídeo</a:t>
            </a:r>
          </a:p>
          <a:p>
            <a:r>
              <a:rPr lang="pt-BR" dirty="0"/>
              <a:t>Cada objeto era desenhado separadamente pelo canhão de vídeo (não existia o conceito de pixel)</a:t>
            </a:r>
          </a:p>
          <a:p>
            <a:r>
              <a:rPr lang="pt-BR" dirty="0"/>
              <a:t>Canhão tinha que repetidamente redesenhar toda a cena</a:t>
            </a:r>
          </a:p>
          <a:p>
            <a:r>
              <a:rPr lang="pt-BR" dirty="0"/>
              <a:t>Motivou o </a:t>
            </a:r>
            <a:r>
              <a:rPr lang="pt-BR" b="1" i="1" dirty="0"/>
              <a:t>Display File</a:t>
            </a:r>
            <a:r>
              <a:rPr lang="pt-BR" dirty="0"/>
              <a:t>: Lista de todos os objetos constantemente redesenhados na tela.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6627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Dispositivos de CG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1" dirty="0" err="1"/>
              <a:t>Random</a:t>
            </a:r>
            <a:r>
              <a:rPr lang="pt-BR" b="1" i="1" dirty="0"/>
              <a:t> </a:t>
            </a:r>
            <a:r>
              <a:rPr lang="pt-BR" b="1" i="1" dirty="0" err="1"/>
              <a:t>Scan</a:t>
            </a:r>
            <a:r>
              <a:rPr lang="pt-BR" b="1" i="1" dirty="0"/>
              <a:t> </a:t>
            </a:r>
            <a:r>
              <a:rPr lang="pt-BR" b="1" i="1" dirty="0" smtClean="0"/>
              <a:t>Display</a:t>
            </a:r>
          </a:p>
          <a:p>
            <a:pPr lvl="1"/>
            <a:r>
              <a:rPr lang="pt-BR" dirty="0" smtClean="0"/>
              <a:t>Um </a:t>
            </a:r>
            <a:r>
              <a:rPr lang="pt-BR" dirty="0"/>
              <a:t>feixe de elétrons é direcionado </a:t>
            </a:r>
            <a:r>
              <a:rPr lang="pt-BR" dirty="0" smtClean="0"/>
              <a:t>somente para as </a:t>
            </a:r>
            <a:r>
              <a:rPr lang="pt-BR" dirty="0"/>
              <a:t>partes da tela onde uma imagem </a:t>
            </a:r>
            <a:r>
              <a:rPr lang="pt-BR" dirty="0" smtClean="0"/>
              <a:t>deve ser </a:t>
            </a:r>
            <a:r>
              <a:rPr lang="pt-BR" dirty="0"/>
              <a:t>desenhada. A imagem é desenhada uma linha de cada vez, por isso também chamado </a:t>
            </a:r>
            <a:r>
              <a:rPr lang="pt-BR" dirty="0" smtClean="0"/>
              <a:t>de </a:t>
            </a:r>
            <a:r>
              <a:rPr lang="pt-BR" b="1" i="1" dirty="0" smtClean="0"/>
              <a:t>vector display</a:t>
            </a:r>
            <a:r>
              <a:rPr lang="pt-BR" dirty="0" smtClean="0"/>
              <a:t> </a:t>
            </a:r>
            <a:r>
              <a:rPr lang="pt-BR" dirty="0"/>
              <a:t>ou  </a:t>
            </a:r>
            <a:r>
              <a:rPr lang="pt-BR" b="1" i="1" dirty="0" err="1"/>
              <a:t>stroke</a:t>
            </a:r>
            <a:r>
              <a:rPr lang="pt-BR" b="1" i="1" dirty="0"/>
              <a:t> </a:t>
            </a:r>
            <a:r>
              <a:rPr lang="pt-BR" b="1" i="1" dirty="0" err="1"/>
              <a:t>writing</a:t>
            </a:r>
            <a:r>
              <a:rPr lang="pt-BR" b="1" i="1" dirty="0"/>
              <a:t> </a:t>
            </a:r>
            <a:r>
              <a:rPr lang="pt-BR" b="1" i="1" dirty="0" smtClean="0"/>
              <a:t>displays</a:t>
            </a:r>
            <a:r>
              <a:rPr lang="pt-BR" dirty="0" smtClean="0"/>
              <a:t>. </a:t>
            </a:r>
          </a:p>
          <a:p>
            <a:pPr lvl="1"/>
            <a:r>
              <a:rPr lang="pt-BR" dirty="0" smtClean="0"/>
              <a:t>Depois </a:t>
            </a:r>
            <a:r>
              <a:rPr lang="pt-BR" dirty="0"/>
              <a:t>de desenhar </a:t>
            </a:r>
            <a:r>
              <a:rPr lang="pt-BR" dirty="0" smtClean="0"/>
              <a:t>todas as imagens do vetor o </a:t>
            </a:r>
            <a:r>
              <a:rPr lang="pt-BR" dirty="0"/>
              <a:t>sistema </a:t>
            </a:r>
            <a:r>
              <a:rPr lang="pt-BR" dirty="0" smtClean="0"/>
              <a:t>volta </a:t>
            </a:r>
            <a:r>
              <a:rPr lang="pt-BR" dirty="0"/>
              <a:t>para a primeira linha e </a:t>
            </a:r>
            <a:r>
              <a:rPr lang="pt-BR" dirty="0" smtClean="0"/>
              <a:t>desenha tudo novamente de </a:t>
            </a:r>
            <a:r>
              <a:rPr lang="pt-BR" dirty="0"/>
              <a:t>30 a 60 </a:t>
            </a:r>
            <a:r>
              <a:rPr lang="pt-BR" dirty="0" smtClean="0"/>
              <a:t>vezes por </a:t>
            </a:r>
            <a:r>
              <a:rPr lang="pt-BR" dirty="0"/>
              <a:t>segundo.</a:t>
            </a:r>
            <a:endParaRPr lang="en-US" dirty="0" smtClean="0"/>
          </a:p>
          <a:p>
            <a:pPr lvl="1"/>
            <a:r>
              <a:rPr lang="pt-BR" dirty="0" smtClean="0"/>
              <a:t>Software </a:t>
            </a:r>
            <a:r>
              <a:rPr lang="pt-BR" dirty="0"/>
              <a:t>Gráfico</a:t>
            </a:r>
          </a:p>
          <a:p>
            <a:pPr lvl="2"/>
            <a:r>
              <a:rPr lang="pt-BR" dirty="0"/>
              <a:t>armazena display file</a:t>
            </a:r>
          </a:p>
          <a:p>
            <a:pPr lvl="1"/>
            <a:r>
              <a:rPr lang="pt-BR" dirty="0"/>
              <a:t>Processador de vídeo</a:t>
            </a:r>
          </a:p>
          <a:p>
            <a:pPr lvl="2"/>
            <a:r>
              <a:rPr lang="pt-BR" dirty="0"/>
              <a:t>desenha linhas</a:t>
            </a:r>
          </a:p>
          <a:p>
            <a:endParaRPr lang="pt-BR" dirty="0"/>
          </a:p>
        </p:txBody>
      </p:sp>
      <p:pic>
        <p:nvPicPr>
          <p:cNvPr id="4" name="Picture 4" descr="vectorsyste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4941168"/>
            <a:ext cx="4294432" cy="1763986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5301208"/>
            <a:ext cx="2438400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150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/>
          <p:cNvSpPr/>
          <p:nvPr/>
        </p:nvSpPr>
        <p:spPr>
          <a:xfrm>
            <a:off x="5120220" y="620688"/>
            <a:ext cx="3763593" cy="583264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Dispositivos de CG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81200"/>
            <a:ext cx="4474840" cy="4144963"/>
          </a:xfrm>
        </p:spPr>
        <p:txBody>
          <a:bodyPr/>
          <a:lstStyle/>
          <a:p>
            <a:r>
              <a:rPr lang="pt-BR" b="1" i="1" dirty="0"/>
              <a:t>Display </a:t>
            </a:r>
            <a:r>
              <a:rPr lang="pt-BR" b="1" i="1" dirty="0" smtClean="0"/>
              <a:t>File</a:t>
            </a:r>
            <a:endParaRPr lang="pt-BR" dirty="0" smtClean="0"/>
          </a:p>
          <a:p>
            <a:pPr lvl="1"/>
            <a:r>
              <a:rPr lang="pt-BR" dirty="0" smtClean="0"/>
              <a:t>Lista </a:t>
            </a:r>
            <a:r>
              <a:rPr lang="pt-BR" dirty="0"/>
              <a:t>de todos os objetos do mundo representado</a:t>
            </a:r>
          </a:p>
          <a:p>
            <a:pPr lvl="1"/>
            <a:r>
              <a:rPr lang="pt-BR" dirty="0"/>
              <a:t>Percorrida em um loop infinito em </a:t>
            </a:r>
            <a:r>
              <a:rPr lang="pt-BR" b="1" i="1" dirty="0" err="1"/>
              <a:t>random</a:t>
            </a:r>
            <a:r>
              <a:rPr lang="pt-BR" b="1" i="1" dirty="0"/>
              <a:t> </a:t>
            </a:r>
            <a:r>
              <a:rPr lang="pt-BR" b="1" i="1" dirty="0" err="1"/>
              <a:t>scan</a:t>
            </a:r>
            <a:r>
              <a:rPr lang="pt-BR" b="1" i="1" dirty="0"/>
              <a:t> displays</a:t>
            </a:r>
          </a:p>
          <a:p>
            <a:pPr lvl="1"/>
            <a:r>
              <a:rPr lang="pt-BR" dirty="0"/>
              <a:t>Também usada para armazenar objetos em displays mais modernos</a:t>
            </a:r>
          </a:p>
          <a:p>
            <a:endParaRPr lang="pt-BR" dirty="0"/>
          </a:p>
        </p:txBody>
      </p:sp>
      <p:sp>
        <p:nvSpPr>
          <p:cNvPr id="27" name="Rectangle 66"/>
          <p:cNvSpPr>
            <a:spLocks noChangeArrowheads="1"/>
          </p:cNvSpPr>
          <p:nvPr/>
        </p:nvSpPr>
        <p:spPr bwMode="auto">
          <a:xfrm>
            <a:off x="5907088" y="2362200"/>
            <a:ext cx="346229" cy="3733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8" name="Rectangle 67"/>
          <p:cNvSpPr>
            <a:spLocks noChangeArrowheads="1"/>
          </p:cNvSpPr>
          <p:nvPr/>
        </p:nvSpPr>
        <p:spPr bwMode="auto">
          <a:xfrm>
            <a:off x="5907088" y="1752600"/>
            <a:ext cx="346229" cy="2971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9" name="Rectangle 68"/>
          <p:cNvSpPr>
            <a:spLocks noChangeArrowheads="1"/>
          </p:cNvSpPr>
          <p:nvPr/>
        </p:nvSpPr>
        <p:spPr bwMode="auto">
          <a:xfrm>
            <a:off x="5907088" y="1905000"/>
            <a:ext cx="346229" cy="2971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0" name="Rectangle 69"/>
          <p:cNvSpPr>
            <a:spLocks noChangeArrowheads="1"/>
          </p:cNvSpPr>
          <p:nvPr/>
        </p:nvSpPr>
        <p:spPr bwMode="auto">
          <a:xfrm>
            <a:off x="5907088" y="2057400"/>
            <a:ext cx="346229" cy="2971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" name="Rectangle 70"/>
          <p:cNvSpPr>
            <a:spLocks noChangeArrowheads="1"/>
          </p:cNvSpPr>
          <p:nvPr/>
        </p:nvSpPr>
        <p:spPr bwMode="auto">
          <a:xfrm>
            <a:off x="5907088" y="2209800"/>
            <a:ext cx="346229" cy="2971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2" name="Rectangle 71"/>
          <p:cNvSpPr>
            <a:spLocks noChangeArrowheads="1"/>
          </p:cNvSpPr>
          <p:nvPr/>
        </p:nvSpPr>
        <p:spPr bwMode="auto">
          <a:xfrm>
            <a:off x="5907088" y="2514600"/>
            <a:ext cx="346229" cy="2971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3" name="Rectangle 72"/>
          <p:cNvSpPr>
            <a:spLocks noChangeArrowheads="1"/>
          </p:cNvSpPr>
          <p:nvPr/>
        </p:nvSpPr>
        <p:spPr bwMode="auto">
          <a:xfrm>
            <a:off x="5907088" y="2667000"/>
            <a:ext cx="346229" cy="2971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4" name="Rectangle 73"/>
          <p:cNvSpPr>
            <a:spLocks noChangeArrowheads="1"/>
          </p:cNvSpPr>
          <p:nvPr/>
        </p:nvSpPr>
        <p:spPr bwMode="auto">
          <a:xfrm>
            <a:off x="5907088" y="2819400"/>
            <a:ext cx="346229" cy="2971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5" name="Rectangle 74"/>
          <p:cNvSpPr>
            <a:spLocks noChangeArrowheads="1"/>
          </p:cNvSpPr>
          <p:nvPr/>
        </p:nvSpPr>
        <p:spPr bwMode="auto">
          <a:xfrm>
            <a:off x="5907088" y="2971800"/>
            <a:ext cx="346229" cy="2971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6" name="Rectangle 75"/>
          <p:cNvSpPr>
            <a:spLocks noChangeArrowheads="1"/>
          </p:cNvSpPr>
          <p:nvPr/>
        </p:nvSpPr>
        <p:spPr bwMode="auto">
          <a:xfrm>
            <a:off x="5907088" y="3124200"/>
            <a:ext cx="346229" cy="2209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7" name="Line 76"/>
          <p:cNvSpPr>
            <a:spLocks noChangeShapeType="1"/>
          </p:cNvSpPr>
          <p:nvPr/>
        </p:nvSpPr>
        <p:spPr bwMode="auto">
          <a:xfrm>
            <a:off x="6135688" y="3276600"/>
            <a:ext cx="0" cy="1295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8" name="Line 77"/>
          <p:cNvSpPr>
            <a:spLocks noChangeShapeType="1"/>
          </p:cNvSpPr>
          <p:nvPr/>
        </p:nvSpPr>
        <p:spPr bwMode="auto">
          <a:xfrm flipV="1">
            <a:off x="6135688" y="1524000"/>
            <a:ext cx="807868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9" name="Line 78"/>
          <p:cNvSpPr>
            <a:spLocks noChangeShapeType="1"/>
          </p:cNvSpPr>
          <p:nvPr/>
        </p:nvSpPr>
        <p:spPr bwMode="auto">
          <a:xfrm>
            <a:off x="6135688" y="1981200"/>
            <a:ext cx="1154097" cy="533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0" name="Line 79"/>
          <p:cNvSpPr>
            <a:spLocks noChangeShapeType="1"/>
          </p:cNvSpPr>
          <p:nvPr/>
        </p:nvSpPr>
        <p:spPr bwMode="auto">
          <a:xfrm>
            <a:off x="6135688" y="2133600"/>
            <a:ext cx="1384917" cy="1676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1" name="Line 80"/>
          <p:cNvSpPr>
            <a:spLocks noChangeShapeType="1"/>
          </p:cNvSpPr>
          <p:nvPr/>
        </p:nvSpPr>
        <p:spPr bwMode="auto">
          <a:xfrm>
            <a:off x="6135688" y="2286000"/>
            <a:ext cx="1096392" cy="2667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2" name="Rectangle 81"/>
          <p:cNvSpPr>
            <a:spLocks noChangeArrowheads="1"/>
          </p:cNvSpPr>
          <p:nvPr/>
        </p:nvSpPr>
        <p:spPr bwMode="auto">
          <a:xfrm>
            <a:off x="7812088" y="2133600"/>
            <a:ext cx="692458" cy="9906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3" name="Oval 82"/>
          <p:cNvSpPr>
            <a:spLocks noChangeArrowheads="1"/>
          </p:cNvSpPr>
          <p:nvPr/>
        </p:nvSpPr>
        <p:spPr bwMode="auto">
          <a:xfrm>
            <a:off x="7964488" y="3581400"/>
            <a:ext cx="692458" cy="15240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4" name="Freeform 83"/>
          <p:cNvSpPr>
            <a:spLocks/>
          </p:cNvSpPr>
          <p:nvPr/>
        </p:nvSpPr>
        <p:spPr bwMode="auto">
          <a:xfrm>
            <a:off x="7278688" y="901700"/>
            <a:ext cx="990600" cy="901700"/>
          </a:xfrm>
          <a:custGeom>
            <a:avLst/>
            <a:gdLst>
              <a:gd name="T0" fmla="*/ 76200 w 824"/>
              <a:gd name="T1" fmla="*/ 393700 h 568"/>
              <a:gd name="T2" fmla="*/ 76200 w 824"/>
              <a:gd name="T3" fmla="*/ 850900 h 568"/>
              <a:gd name="T4" fmla="*/ 533400 w 824"/>
              <a:gd name="T5" fmla="*/ 698500 h 568"/>
              <a:gd name="T6" fmla="*/ 533400 w 824"/>
              <a:gd name="T7" fmla="*/ 88900 h 568"/>
              <a:gd name="T8" fmla="*/ 1219200 w 824"/>
              <a:gd name="T9" fmla="*/ 165100 h 568"/>
              <a:gd name="T10" fmla="*/ 1066800 w 824"/>
              <a:gd name="T11" fmla="*/ 622300 h 568"/>
              <a:gd name="T12" fmla="*/ 1143000 w 824"/>
              <a:gd name="T13" fmla="*/ 698500 h 56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24" h="568">
                <a:moveTo>
                  <a:pt x="48" y="248"/>
                </a:moveTo>
                <a:cubicBezTo>
                  <a:pt x="24" y="376"/>
                  <a:pt x="0" y="504"/>
                  <a:pt x="48" y="536"/>
                </a:cubicBezTo>
                <a:cubicBezTo>
                  <a:pt x="96" y="568"/>
                  <a:pt x="288" y="520"/>
                  <a:pt x="336" y="440"/>
                </a:cubicBezTo>
                <a:cubicBezTo>
                  <a:pt x="384" y="360"/>
                  <a:pt x="264" y="112"/>
                  <a:pt x="336" y="56"/>
                </a:cubicBezTo>
                <a:cubicBezTo>
                  <a:pt x="408" y="0"/>
                  <a:pt x="712" y="48"/>
                  <a:pt x="768" y="104"/>
                </a:cubicBezTo>
                <a:cubicBezTo>
                  <a:pt x="824" y="160"/>
                  <a:pt x="680" y="336"/>
                  <a:pt x="672" y="392"/>
                </a:cubicBezTo>
                <a:cubicBezTo>
                  <a:pt x="664" y="448"/>
                  <a:pt x="692" y="444"/>
                  <a:pt x="720" y="44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5" name="Rectangle 84"/>
          <p:cNvSpPr>
            <a:spLocks noChangeArrowheads="1"/>
          </p:cNvSpPr>
          <p:nvPr/>
        </p:nvSpPr>
        <p:spPr bwMode="auto">
          <a:xfrm>
            <a:off x="7278688" y="5257800"/>
            <a:ext cx="807868" cy="914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6" name="Freeform 85"/>
          <p:cNvSpPr>
            <a:spLocks/>
          </p:cNvSpPr>
          <p:nvPr/>
        </p:nvSpPr>
        <p:spPr bwMode="auto">
          <a:xfrm>
            <a:off x="5297488" y="1816100"/>
            <a:ext cx="307759" cy="3848100"/>
          </a:xfrm>
          <a:custGeom>
            <a:avLst/>
            <a:gdLst>
              <a:gd name="T0" fmla="*/ 28353 w 688"/>
              <a:gd name="T1" fmla="*/ 546100 h 2424"/>
              <a:gd name="T2" fmla="*/ 56707 w 688"/>
              <a:gd name="T3" fmla="*/ 165100 h 2424"/>
              <a:gd name="T4" fmla="*/ 170121 w 688"/>
              <a:gd name="T5" fmla="*/ 12700 h 2424"/>
              <a:gd name="T6" fmla="*/ 283535 w 688"/>
              <a:gd name="T7" fmla="*/ 88900 h 2424"/>
              <a:gd name="T8" fmla="*/ 340242 w 688"/>
              <a:gd name="T9" fmla="*/ 393700 h 2424"/>
              <a:gd name="T10" fmla="*/ 368595 w 688"/>
              <a:gd name="T11" fmla="*/ 698500 h 2424"/>
              <a:gd name="T12" fmla="*/ 396949 w 688"/>
              <a:gd name="T13" fmla="*/ 1536700 h 2424"/>
              <a:gd name="T14" fmla="*/ 396949 w 688"/>
              <a:gd name="T15" fmla="*/ 3213100 h 2424"/>
              <a:gd name="T16" fmla="*/ 340242 w 688"/>
              <a:gd name="T17" fmla="*/ 3746500 h 2424"/>
              <a:gd name="T18" fmla="*/ 198474 w 688"/>
              <a:gd name="T19" fmla="*/ 3822700 h 2424"/>
              <a:gd name="T20" fmla="*/ 85060 w 688"/>
              <a:gd name="T21" fmla="*/ 3670300 h 2424"/>
              <a:gd name="T22" fmla="*/ 28353 w 688"/>
              <a:gd name="T23" fmla="*/ 3365500 h 2424"/>
              <a:gd name="T24" fmla="*/ 0 w 688"/>
              <a:gd name="T25" fmla="*/ 3060700 h 242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688" h="2424">
                <a:moveTo>
                  <a:pt x="48" y="344"/>
                </a:moveTo>
                <a:cubicBezTo>
                  <a:pt x="52" y="252"/>
                  <a:pt x="56" y="160"/>
                  <a:pt x="96" y="104"/>
                </a:cubicBezTo>
                <a:cubicBezTo>
                  <a:pt x="136" y="48"/>
                  <a:pt x="224" y="16"/>
                  <a:pt x="288" y="8"/>
                </a:cubicBezTo>
                <a:cubicBezTo>
                  <a:pt x="352" y="0"/>
                  <a:pt x="432" y="16"/>
                  <a:pt x="480" y="56"/>
                </a:cubicBezTo>
                <a:cubicBezTo>
                  <a:pt x="528" y="96"/>
                  <a:pt x="552" y="184"/>
                  <a:pt x="576" y="248"/>
                </a:cubicBezTo>
                <a:cubicBezTo>
                  <a:pt x="600" y="312"/>
                  <a:pt x="608" y="320"/>
                  <a:pt x="624" y="440"/>
                </a:cubicBezTo>
                <a:cubicBezTo>
                  <a:pt x="640" y="560"/>
                  <a:pt x="664" y="704"/>
                  <a:pt x="672" y="968"/>
                </a:cubicBezTo>
                <a:cubicBezTo>
                  <a:pt x="680" y="1232"/>
                  <a:pt x="688" y="1792"/>
                  <a:pt x="672" y="2024"/>
                </a:cubicBezTo>
                <a:cubicBezTo>
                  <a:pt x="656" y="2256"/>
                  <a:pt x="632" y="2296"/>
                  <a:pt x="576" y="2360"/>
                </a:cubicBezTo>
                <a:cubicBezTo>
                  <a:pt x="520" y="2424"/>
                  <a:pt x="408" y="2416"/>
                  <a:pt x="336" y="2408"/>
                </a:cubicBezTo>
                <a:cubicBezTo>
                  <a:pt x="264" y="2400"/>
                  <a:pt x="192" y="2360"/>
                  <a:pt x="144" y="2312"/>
                </a:cubicBezTo>
                <a:cubicBezTo>
                  <a:pt x="96" y="2264"/>
                  <a:pt x="72" y="2184"/>
                  <a:pt x="48" y="2120"/>
                </a:cubicBezTo>
                <a:cubicBezTo>
                  <a:pt x="24" y="2056"/>
                  <a:pt x="12" y="1992"/>
                  <a:pt x="0" y="1928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646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Dispositivos de CG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 err="1" smtClean="0"/>
              <a:t>Raster</a:t>
            </a:r>
            <a:r>
              <a:rPr lang="pt-BR" b="1" dirty="0" smtClean="0"/>
              <a:t> </a:t>
            </a:r>
            <a:r>
              <a:rPr lang="pt-BR" b="1" dirty="0" err="1" smtClean="0"/>
              <a:t>Scan</a:t>
            </a:r>
            <a:r>
              <a:rPr lang="pt-BR" b="1" dirty="0" smtClean="0"/>
              <a:t> Display</a:t>
            </a:r>
          </a:p>
          <a:p>
            <a:pPr lvl="1"/>
            <a:r>
              <a:rPr lang="pt-BR" dirty="0"/>
              <a:t>É o tipo mais comum de monitor </a:t>
            </a:r>
            <a:r>
              <a:rPr lang="pt-BR" dirty="0" smtClean="0"/>
              <a:t>gráfico. Baseado </a:t>
            </a:r>
            <a:r>
              <a:rPr lang="pt-BR" dirty="0"/>
              <a:t>na tecnologia de televisão. </a:t>
            </a:r>
            <a:endParaRPr lang="pt-BR" dirty="0" smtClean="0"/>
          </a:p>
          <a:p>
            <a:pPr lvl="1"/>
            <a:r>
              <a:rPr lang="pt-BR" dirty="0" smtClean="0"/>
              <a:t>O </a:t>
            </a:r>
            <a:r>
              <a:rPr lang="pt-BR" dirty="0"/>
              <a:t>feixe de elétrons é varrido através da tela, uma linha de cada vez, de cima para baixo. Quando se move </a:t>
            </a:r>
            <a:r>
              <a:rPr lang="pt-BR" dirty="0" smtClean="0"/>
              <a:t>o feixe </a:t>
            </a:r>
            <a:r>
              <a:rPr lang="pt-BR" dirty="0"/>
              <a:t>de elétrons através de cada linha a intensidade do feixe é ligado e desligado para </a:t>
            </a:r>
            <a:r>
              <a:rPr lang="pt-BR" dirty="0" smtClean="0"/>
              <a:t>criar um </a:t>
            </a:r>
            <a:r>
              <a:rPr lang="pt-BR" dirty="0"/>
              <a:t>padrão de pontos iluminados. </a:t>
            </a:r>
            <a:endParaRPr lang="pt-BR" dirty="0" smtClean="0"/>
          </a:p>
          <a:p>
            <a:pPr lvl="1"/>
            <a:r>
              <a:rPr lang="pt-BR" dirty="0" smtClean="0"/>
              <a:t>Definição </a:t>
            </a:r>
            <a:r>
              <a:rPr lang="pt-BR" dirty="0"/>
              <a:t>de imagem é armazenada </a:t>
            </a:r>
            <a:r>
              <a:rPr lang="pt-BR" dirty="0" smtClean="0"/>
              <a:t>na memória no </a:t>
            </a:r>
            <a:r>
              <a:rPr lang="pt-BR" b="1" i="1" dirty="0" smtClean="0"/>
              <a:t>frame </a:t>
            </a:r>
            <a:r>
              <a:rPr lang="pt-BR" b="1" i="1" dirty="0"/>
              <a:t>buffer </a:t>
            </a:r>
            <a:r>
              <a:rPr lang="pt-BR" dirty="0" smtClean="0"/>
              <a:t> (matriz de pixels) que armazena os </a:t>
            </a:r>
            <a:r>
              <a:rPr lang="pt-BR" dirty="0"/>
              <a:t>valores de intensidade, </a:t>
            </a:r>
            <a:r>
              <a:rPr lang="pt-BR" dirty="0" smtClean="0"/>
              <a:t>e estes são recuperados na </a:t>
            </a:r>
            <a:r>
              <a:rPr lang="pt-BR" dirty="0"/>
              <a:t>tela uma linha de cada </a:t>
            </a:r>
            <a:r>
              <a:rPr lang="pt-BR" dirty="0" smtClean="0"/>
              <a:t>vez</a:t>
            </a:r>
            <a:endParaRPr lang="pt-BR" dirty="0"/>
          </a:p>
          <a:p>
            <a:pPr lvl="1"/>
            <a:endParaRPr lang="pt-BR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971600" y="4365105"/>
            <a:ext cx="3609680" cy="1827887"/>
            <a:chOff x="336" y="1800"/>
            <a:chExt cx="5280" cy="2243"/>
          </a:xfrm>
        </p:grpSpPr>
        <p:pic>
          <p:nvPicPr>
            <p:cNvPr id="5" name="Picture 5" descr="fbraster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" y="1800"/>
              <a:ext cx="5280" cy="2243"/>
            </a:xfrm>
            <a:prstGeom prst="rect">
              <a:avLst/>
            </a:prstGeom>
            <a:noFill/>
            <a:ln>
              <a:noFill/>
            </a:ln>
            <a:effectLst>
              <a:outerShdw dist="107763" dir="2700000" algn="ctr" rotWithShape="0">
                <a:srgbClr val="80808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2448" y="2016"/>
              <a:ext cx="528" cy="48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4976092" y="4365104"/>
            <a:ext cx="3844380" cy="1827887"/>
            <a:chOff x="192" y="960"/>
            <a:chExt cx="5357" cy="2946"/>
          </a:xfrm>
        </p:grpSpPr>
        <p:pic>
          <p:nvPicPr>
            <p:cNvPr id="8" name="Picture 11" descr="displayprocesso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960"/>
              <a:ext cx="5357" cy="2946"/>
            </a:xfrm>
            <a:prstGeom prst="rect">
              <a:avLst/>
            </a:prstGeom>
            <a:noFill/>
            <a:ln>
              <a:noFill/>
            </a:ln>
            <a:effectLst>
              <a:outerShdw dist="107763" dir="2700000" algn="ctr" rotWithShape="0">
                <a:srgbClr val="80808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12"/>
            <p:cNvSpPr txBox="1">
              <a:spLocks noChangeArrowheads="1"/>
            </p:cNvSpPr>
            <p:nvPr/>
          </p:nvSpPr>
          <p:spPr bwMode="auto">
            <a:xfrm>
              <a:off x="3840" y="2399"/>
              <a:ext cx="1633" cy="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93675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defTabSz="193675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defTabSz="193675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defTabSz="193675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defTabSz="193675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defTabSz="1936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defTabSz="1936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defTabSz="1936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defTabSz="1936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60000"/>
                </a:spcBef>
                <a:buClr>
                  <a:schemeClr val="tx1"/>
                </a:buClr>
                <a:defRPr/>
              </a:pPr>
              <a:endParaRPr lang="pt-BR" sz="2600">
                <a:solidFill>
                  <a:schemeClr val="accent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cs typeface="+mn-cs"/>
              </a:endParaRPr>
            </a:p>
          </p:txBody>
        </p:sp>
      </p:grp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521720" y="6279704"/>
            <a:ext cx="2546224" cy="4616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pt-BR" b="1" dirty="0">
                <a:solidFill>
                  <a:srgbClr val="FFFF00"/>
                </a:solidFill>
              </a:rPr>
              <a:t>Sistema Simples</a:t>
            </a: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5436096" y="6265849"/>
            <a:ext cx="3015056" cy="4616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pt-BR" b="1" dirty="0">
                <a:solidFill>
                  <a:srgbClr val="FFFF00"/>
                </a:solidFill>
              </a:rPr>
              <a:t>C/ Aceleradora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4624"/>
            <a:ext cx="3657699" cy="233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659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Sistemas de Coordenadas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Na CG </a:t>
            </a:r>
            <a:r>
              <a:rPr lang="pt-BR" dirty="0" smtClean="0"/>
              <a:t> é necessário definir </a:t>
            </a:r>
            <a:r>
              <a:rPr lang="pt-BR" dirty="0"/>
              <a:t>sistemas de coordenadas para </a:t>
            </a:r>
            <a:r>
              <a:rPr lang="pt-BR" dirty="0" smtClean="0"/>
              <a:t>quantificar </a:t>
            </a:r>
            <a:r>
              <a:rPr lang="pt-BR" dirty="0"/>
              <a:t>os dados que </a:t>
            </a:r>
            <a:r>
              <a:rPr lang="pt-BR" dirty="0" smtClean="0"/>
              <a:t>estão sendo </a:t>
            </a:r>
            <a:r>
              <a:rPr lang="pt-BR" dirty="0"/>
              <a:t>manipulados.</a:t>
            </a:r>
          </a:p>
          <a:p>
            <a:r>
              <a:rPr lang="pt-BR" dirty="0" smtClean="0"/>
              <a:t>São usados para definir onde e como serão representados pontos em um espaço. </a:t>
            </a:r>
          </a:p>
          <a:p>
            <a:r>
              <a:rPr lang="pt-BR" dirty="0" smtClean="0"/>
              <a:t>De </a:t>
            </a:r>
            <a:r>
              <a:rPr lang="pt-BR" dirty="0"/>
              <a:t>forma geral são definidos </a:t>
            </a:r>
            <a:r>
              <a:rPr lang="pt-BR" dirty="0" smtClean="0"/>
              <a:t>os seguintes sistemas </a:t>
            </a:r>
            <a:r>
              <a:rPr lang="pt-BR" dirty="0"/>
              <a:t>de </a:t>
            </a:r>
            <a:r>
              <a:rPr lang="pt-BR" dirty="0" smtClean="0"/>
              <a:t>coordenadas:</a:t>
            </a:r>
          </a:p>
          <a:p>
            <a:pPr lvl="1"/>
            <a:r>
              <a:rPr lang="pt-BR" b="1" dirty="0"/>
              <a:t>Sistemas de coordenadas do </a:t>
            </a:r>
            <a:r>
              <a:rPr lang="pt-BR" b="1" dirty="0" smtClean="0"/>
              <a:t>mundo (World)</a:t>
            </a:r>
            <a:endParaRPr lang="pt-BR" dirty="0" smtClean="0"/>
          </a:p>
          <a:p>
            <a:pPr lvl="1"/>
            <a:r>
              <a:rPr lang="pt-BR" b="1" dirty="0"/>
              <a:t>Sistemas de coordenadas do </a:t>
            </a:r>
            <a:r>
              <a:rPr lang="pt-BR" b="1" dirty="0" smtClean="0"/>
              <a:t>dispositivo (</a:t>
            </a:r>
            <a:r>
              <a:rPr lang="pt-BR" b="1" dirty="0" err="1" smtClean="0"/>
              <a:t>Window</a:t>
            </a:r>
            <a:r>
              <a:rPr lang="pt-BR" b="1" dirty="0" smtClean="0"/>
              <a:t> / </a:t>
            </a:r>
            <a:r>
              <a:rPr lang="pt-BR" b="1" dirty="0" err="1" smtClean="0"/>
              <a:t>Screen</a:t>
            </a:r>
            <a:r>
              <a:rPr lang="pt-BR" b="1" dirty="0" smtClean="0"/>
              <a:t>)</a:t>
            </a:r>
          </a:p>
          <a:p>
            <a:pPr lvl="1"/>
            <a:r>
              <a:rPr lang="pt-BR" b="1" dirty="0" smtClean="0"/>
              <a:t>Sistemas de coordenadas normalizadas</a:t>
            </a:r>
            <a:endParaRPr lang="pt-BR" b="1" dirty="0"/>
          </a:p>
          <a:p>
            <a:pPr lvl="1"/>
            <a:r>
              <a:rPr lang="pt-BR" b="1" dirty="0" smtClean="0"/>
              <a:t>Sistemas de </a:t>
            </a:r>
            <a:r>
              <a:rPr lang="pt-BR" b="1" dirty="0"/>
              <a:t>coordenadas </a:t>
            </a:r>
            <a:r>
              <a:rPr lang="pt-BR" b="1" dirty="0" smtClean="0"/>
              <a:t>do objeto</a:t>
            </a:r>
          </a:p>
          <a:p>
            <a:pPr lvl="1"/>
            <a:endParaRPr lang="pt-BR" dirty="0"/>
          </a:p>
          <a:p>
            <a:pPr lvl="1"/>
            <a:endParaRPr lang="pt-BR" dirty="0" smtClean="0"/>
          </a:p>
          <a:p>
            <a:pPr lvl="2"/>
            <a:endParaRPr lang="pt-BR" dirty="0" smtClean="0"/>
          </a:p>
          <a:p>
            <a:pPr lvl="2"/>
            <a:endParaRPr lang="pt-BR" dirty="0"/>
          </a:p>
          <a:p>
            <a:pPr lvl="2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1477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solidFill>
                  <a:srgbClr val="3F3F4D"/>
                </a:solidFill>
              </a:rPr>
              <a:t>Sistemas de coordenadas do </a:t>
            </a:r>
            <a:r>
              <a:rPr lang="pt-BR" b="1" dirty="0" smtClean="0">
                <a:solidFill>
                  <a:srgbClr val="3F3F4D"/>
                </a:solidFill>
              </a:rPr>
              <a:t>mundo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É um conjunto de coordenadas cartesianas em um intervalo qualquer definido pelo usuário</a:t>
            </a:r>
            <a:r>
              <a:rPr lang="pt-BR" dirty="0" smtClean="0"/>
              <a:t>.</a:t>
            </a:r>
          </a:p>
          <a:p>
            <a:r>
              <a:rPr lang="pt-BR" dirty="0"/>
              <a:t>Cada tipo de aplicação especifica o seu universo de </a:t>
            </a:r>
            <a:r>
              <a:rPr lang="pt-BR" dirty="0" smtClean="0"/>
              <a:t>trabalho </a:t>
            </a:r>
            <a:r>
              <a:rPr lang="pt-BR" dirty="0"/>
              <a:t>próprio</a:t>
            </a:r>
            <a:r>
              <a:rPr lang="pt-BR" dirty="0" smtClean="0"/>
              <a:t>.</a:t>
            </a:r>
          </a:p>
          <a:p>
            <a:r>
              <a:rPr lang="pt-BR" dirty="0" smtClean="0"/>
              <a:t>Por </a:t>
            </a:r>
            <a:r>
              <a:rPr lang="pt-BR" dirty="0"/>
              <a:t>exemplo, uma aplicação CAD de arquitetura o </a:t>
            </a:r>
            <a:r>
              <a:rPr lang="pt-BR" dirty="0" smtClean="0"/>
              <a:t>universo é </a:t>
            </a:r>
            <a:r>
              <a:rPr lang="pt-BR" dirty="0"/>
              <a:t>dado em metros ou centímetros. </a:t>
            </a:r>
            <a:r>
              <a:rPr lang="pt-BR" dirty="0" smtClean="0"/>
              <a:t>Para </a:t>
            </a:r>
            <a:r>
              <a:rPr lang="pt-BR" dirty="0"/>
              <a:t>uma aplicação </a:t>
            </a:r>
            <a:r>
              <a:rPr lang="pt-BR" dirty="0" smtClean="0"/>
              <a:t>de mecânica </a:t>
            </a:r>
            <a:r>
              <a:rPr lang="pt-BR" dirty="0"/>
              <a:t>de precisão, o universo estará em </a:t>
            </a:r>
            <a:r>
              <a:rPr lang="pt-BR" dirty="0" smtClean="0"/>
              <a:t>milímetros </a:t>
            </a:r>
            <a:r>
              <a:rPr lang="pt-BR" dirty="0"/>
              <a:t>ou </a:t>
            </a:r>
            <a:r>
              <a:rPr lang="pt-BR" dirty="0" smtClean="0"/>
              <a:t>nanômetros. </a:t>
            </a:r>
          </a:p>
          <a:p>
            <a:r>
              <a:rPr lang="pt-BR" dirty="0" smtClean="0"/>
              <a:t>Cada </a:t>
            </a:r>
            <a:r>
              <a:rPr lang="pt-BR" dirty="0"/>
              <a:t>um </a:t>
            </a:r>
            <a:r>
              <a:rPr lang="pt-BR" dirty="0" smtClean="0"/>
              <a:t>dos </a:t>
            </a:r>
            <a:r>
              <a:rPr lang="pt-BR" dirty="0"/>
              <a:t>sistemas tem uma escala e seus </a:t>
            </a:r>
            <a:r>
              <a:rPr lang="pt-BR" dirty="0" smtClean="0"/>
              <a:t>limites extremos ( coordenadas mínimas (</a:t>
            </a:r>
            <a:r>
              <a:rPr lang="pt-BR" dirty="0" err="1" smtClean="0"/>
              <a:t>xw</a:t>
            </a:r>
            <a:r>
              <a:rPr lang="pt-BR" baseline="-25000" dirty="0" err="1" smtClean="0"/>
              <a:t>min</a:t>
            </a:r>
            <a:r>
              <a:rPr lang="pt-BR" dirty="0" smtClean="0"/>
              <a:t> e </a:t>
            </a:r>
            <a:r>
              <a:rPr lang="pt-BR" dirty="0" err="1" smtClean="0"/>
              <a:t>yw</a:t>
            </a:r>
            <a:r>
              <a:rPr lang="pt-BR" baseline="-25000" dirty="0" err="1"/>
              <a:t>min</a:t>
            </a:r>
            <a:r>
              <a:rPr lang="pt-BR" dirty="0" smtClean="0"/>
              <a:t>) </a:t>
            </a:r>
            <a:r>
              <a:rPr lang="pt-BR" dirty="0"/>
              <a:t>e máximas (</a:t>
            </a:r>
            <a:r>
              <a:rPr lang="pt-BR" dirty="0" err="1" smtClean="0"/>
              <a:t>xw</a:t>
            </a:r>
            <a:r>
              <a:rPr lang="pt-BR" baseline="-25000" dirty="0" err="1" smtClean="0"/>
              <a:t>max</a:t>
            </a:r>
            <a:r>
              <a:rPr lang="pt-BR" dirty="0" smtClean="0"/>
              <a:t> </a:t>
            </a:r>
            <a:r>
              <a:rPr lang="pt-BR" dirty="0"/>
              <a:t>e </a:t>
            </a:r>
            <a:r>
              <a:rPr lang="pt-BR" dirty="0" err="1" smtClean="0"/>
              <a:t>yw</a:t>
            </a:r>
            <a:r>
              <a:rPr lang="pt-BR" baseline="-25000" dirty="0" err="1"/>
              <a:t>max</a:t>
            </a:r>
            <a:r>
              <a:rPr lang="pt-BR" dirty="0" smtClean="0"/>
              <a:t>) do mundo).</a:t>
            </a:r>
          </a:p>
          <a:p>
            <a:r>
              <a:rPr lang="pt-BR" dirty="0" smtClean="0"/>
              <a:t>As coordenadas mínimas ficam no canto inferior esquerdo (cartesiano)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6312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solidFill>
                  <a:srgbClr val="3F3F4D"/>
                </a:solidFill>
              </a:rPr>
              <a:t>Sistemas de coordenadas do </a:t>
            </a:r>
            <a:r>
              <a:rPr lang="pt-BR" b="1" dirty="0" smtClean="0">
                <a:solidFill>
                  <a:srgbClr val="3F3F4D"/>
                </a:solidFill>
              </a:rPr>
              <a:t>dispositivo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Como as primitivas </a:t>
            </a:r>
            <a:r>
              <a:rPr lang="pt-BR" dirty="0" smtClean="0"/>
              <a:t>são especificadas </a:t>
            </a:r>
            <a:r>
              <a:rPr lang="pt-BR" dirty="0"/>
              <a:t>em coordenadas do mundo, o pacote </a:t>
            </a:r>
            <a:r>
              <a:rPr lang="pt-BR" dirty="0" smtClean="0"/>
              <a:t>gráfico precisa mapear </a:t>
            </a:r>
            <a:r>
              <a:rPr lang="pt-BR" dirty="0"/>
              <a:t>as coordenadas do mundo em coordenadas de </a:t>
            </a:r>
            <a:r>
              <a:rPr lang="pt-BR" dirty="0" smtClean="0"/>
              <a:t>tela.</a:t>
            </a:r>
            <a:endParaRPr lang="pt-BR" dirty="0"/>
          </a:p>
          <a:p>
            <a:r>
              <a:rPr lang="pt-BR" dirty="0" smtClean="0"/>
              <a:t>É o espaço </a:t>
            </a:r>
            <a:r>
              <a:rPr lang="pt-BR" dirty="0"/>
              <a:t>no qual a imagem é </a:t>
            </a:r>
            <a:r>
              <a:rPr lang="pt-BR" dirty="0" smtClean="0"/>
              <a:t>mostrada (limitação da resolução do equipamento). </a:t>
            </a:r>
            <a:r>
              <a:rPr lang="pt-BR" dirty="0"/>
              <a:t>Os pixels ou pontos podem ser endereçados por dois inteiros</a:t>
            </a:r>
            <a:endParaRPr lang="pt-BR" dirty="0" smtClean="0"/>
          </a:p>
          <a:p>
            <a:r>
              <a:rPr lang="pt-BR" dirty="0" smtClean="0"/>
              <a:t>Por exemplo um monitor com resolução de 800 x 600 pixels, as coordenadas mínimas são (1, 1) e as máximas são (800, 600)</a:t>
            </a:r>
          </a:p>
          <a:p>
            <a:r>
              <a:rPr lang="pt-BR" dirty="0"/>
              <a:t>As coordenadas mínimas ficam no canto </a:t>
            </a:r>
            <a:r>
              <a:rPr lang="pt-BR" dirty="0" smtClean="0"/>
              <a:t>superior </a:t>
            </a:r>
            <a:r>
              <a:rPr lang="pt-BR" dirty="0"/>
              <a:t>esquerdo </a:t>
            </a:r>
            <a:r>
              <a:rPr lang="pt-BR" dirty="0" smtClean="0"/>
              <a:t>(monitor)</a:t>
            </a:r>
          </a:p>
          <a:p>
            <a:r>
              <a:rPr lang="pt-BR" dirty="0" smtClean="0"/>
              <a:t>Em alguns casos são chamadas de Porta de Visão (</a:t>
            </a:r>
            <a:r>
              <a:rPr lang="pt-BR" b="1" i="1" dirty="0" err="1" smtClean="0"/>
              <a:t>viewport</a:t>
            </a:r>
            <a:r>
              <a:rPr lang="pt-BR" dirty="0" smtClean="0"/>
              <a:t>)</a:t>
            </a:r>
          </a:p>
          <a:p>
            <a:r>
              <a:rPr lang="pt-BR" dirty="0" smtClean="0"/>
              <a:t>Seus </a:t>
            </a:r>
            <a:r>
              <a:rPr lang="pt-BR" dirty="0"/>
              <a:t>limites </a:t>
            </a:r>
            <a:r>
              <a:rPr lang="pt-BR" dirty="0" smtClean="0"/>
              <a:t>extremos, coordenadas mínimas (</a:t>
            </a:r>
            <a:r>
              <a:rPr lang="pt-BR" dirty="0" err="1" smtClean="0"/>
              <a:t>xvp</a:t>
            </a:r>
            <a:r>
              <a:rPr lang="pt-BR" baseline="-25000" dirty="0" err="1" smtClean="0"/>
              <a:t>min</a:t>
            </a:r>
            <a:r>
              <a:rPr lang="pt-BR" dirty="0" smtClean="0"/>
              <a:t> </a:t>
            </a:r>
            <a:r>
              <a:rPr lang="pt-BR" dirty="0"/>
              <a:t>e </a:t>
            </a:r>
            <a:r>
              <a:rPr lang="pt-BR" dirty="0" err="1" smtClean="0"/>
              <a:t>yvp</a:t>
            </a:r>
            <a:r>
              <a:rPr lang="pt-BR" baseline="-25000" dirty="0" err="1" smtClean="0"/>
              <a:t>min</a:t>
            </a:r>
            <a:r>
              <a:rPr lang="pt-BR" dirty="0"/>
              <a:t>) e máximas (</a:t>
            </a:r>
            <a:r>
              <a:rPr lang="pt-BR" dirty="0" err="1" smtClean="0"/>
              <a:t>x</a:t>
            </a:r>
            <a:r>
              <a:rPr lang="pt-BR" dirty="0" err="1"/>
              <a:t>vp</a:t>
            </a:r>
            <a:r>
              <a:rPr lang="pt-BR" baseline="-25000" dirty="0" err="1" smtClean="0"/>
              <a:t>max</a:t>
            </a:r>
            <a:r>
              <a:rPr lang="pt-BR" dirty="0" smtClean="0"/>
              <a:t> </a:t>
            </a:r>
            <a:r>
              <a:rPr lang="pt-BR" dirty="0"/>
              <a:t>e </a:t>
            </a:r>
            <a:r>
              <a:rPr lang="pt-BR" dirty="0" err="1" smtClean="0"/>
              <a:t>y</a:t>
            </a:r>
            <a:r>
              <a:rPr lang="pt-BR" dirty="0" err="1"/>
              <a:t>vp</a:t>
            </a:r>
            <a:r>
              <a:rPr lang="pt-BR" baseline="-25000" dirty="0" err="1" smtClean="0"/>
              <a:t>max</a:t>
            </a:r>
            <a:r>
              <a:rPr lang="pt-BR" dirty="0" smtClean="0"/>
              <a:t>)</a:t>
            </a:r>
            <a:endParaRPr lang="pt-BR" dirty="0"/>
          </a:p>
          <a:p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50795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Sistemas de coordenadas </a:t>
            </a:r>
            <a:r>
              <a:rPr lang="pt-BR" b="1" dirty="0" smtClean="0"/>
              <a:t>normalizadas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Trabalha com coordenadas normalizadas (valores </a:t>
            </a:r>
            <a:r>
              <a:rPr lang="pt-BR" dirty="0" smtClean="0"/>
              <a:t>entre </a:t>
            </a:r>
            <a:r>
              <a:rPr lang="pt-BR" dirty="0"/>
              <a:t>0 e </a:t>
            </a:r>
            <a:r>
              <a:rPr lang="pt-BR" dirty="0" smtClean="0"/>
              <a:t>1</a:t>
            </a:r>
            <a:r>
              <a:rPr lang="pt-BR" dirty="0"/>
              <a:t>, onde </a:t>
            </a:r>
            <a:r>
              <a:rPr lang="pt-BR" dirty="0" smtClean="0"/>
              <a:t>0 ≤ x ≤ 1 </a:t>
            </a:r>
            <a:r>
              <a:rPr lang="pt-BR" dirty="0"/>
              <a:t>e 0 </a:t>
            </a:r>
            <a:r>
              <a:rPr lang="pt-BR" dirty="0" smtClean="0"/>
              <a:t>≤ y ≤ 1</a:t>
            </a:r>
            <a:r>
              <a:rPr lang="pt-BR" dirty="0"/>
              <a:t>);</a:t>
            </a:r>
          </a:p>
          <a:p>
            <a:r>
              <a:rPr lang="pt-BR" dirty="0" smtClean="0"/>
              <a:t>Serve </a:t>
            </a:r>
            <a:r>
              <a:rPr lang="pt-BR" dirty="0"/>
              <a:t>como um sistema de referência intermediário </a:t>
            </a:r>
            <a:r>
              <a:rPr lang="pt-BR" dirty="0" smtClean="0"/>
              <a:t>entre as coordenadas de </a:t>
            </a:r>
            <a:r>
              <a:rPr lang="pt-BR" b="1" dirty="0" smtClean="0"/>
              <a:t>mundo</a:t>
            </a:r>
            <a:r>
              <a:rPr lang="pt-BR" dirty="0" smtClean="0"/>
              <a:t> e de </a:t>
            </a:r>
            <a:r>
              <a:rPr lang="pt-BR" b="1" dirty="0" err="1" smtClean="0"/>
              <a:t>viewport</a:t>
            </a:r>
            <a:endParaRPr lang="pt-BR" b="1" dirty="0"/>
          </a:p>
          <a:p>
            <a:r>
              <a:rPr lang="pt-BR" dirty="0" smtClean="0"/>
              <a:t>Torna </a:t>
            </a:r>
            <a:r>
              <a:rPr lang="pt-BR" dirty="0"/>
              <a:t>a geração das imagens independente do </a:t>
            </a:r>
            <a:r>
              <a:rPr lang="pt-BR" dirty="0" smtClean="0"/>
              <a:t>dispositivo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6013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Sistemas </a:t>
            </a:r>
            <a:r>
              <a:rPr lang="pt-BR" b="1" dirty="0"/>
              <a:t>de coordenadas do objeto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É o sistema de coordenadas onde se definem os </a:t>
            </a:r>
            <a:r>
              <a:rPr lang="pt-BR" dirty="0" smtClean="0"/>
              <a:t>modelos dos </a:t>
            </a:r>
            <a:r>
              <a:rPr lang="pt-BR" dirty="0"/>
              <a:t>objetos da aplicação.</a:t>
            </a:r>
          </a:p>
          <a:p>
            <a:r>
              <a:rPr lang="pt-BR" dirty="0" smtClean="0"/>
              <a:t>Trata </a:t>
            </a:r>
            <a:r>
              <a:rPr lang="pt-BR" dirty="0"/>
              <a:t>o objeto como um miniuniverso </a:t>
            </a:r>
            <a:r>
              <a:rPr lang="pt-BR" dirty="0" smtClean="0"/>
              <a:t>individual</a:t>
            </a:r>
          </a:p>
          <a:p>
            <a:r>
              <a:rPr lang="pt-BR" dirty="0" smtClean="0"/>
              <a:t>Cada </a:t>
            </a:r>
            <a:r>
              <a:rPr lang="pt-BR" dirty="0"/>
              <a:t>objeto tem suas particularidades descritas em </a:t>
            </a:r>
            <a:r>
              <a:rPr lang="pt-BR" dirty="0" smtClean="0"/>
              <a:t>função de </a:t>
            </a:r>
            <a:r>
              <a:rPr lang="pt-BR" dirty="0"/>
              <a:t>seu sistema;</a:t>
            </a:r>
          </a:p>
          <a:p>
            <a:r>
              <a:rPr lang="pt-BR" dirty="0" smtClean="0"/>
              <a:t>Geralmente </a:t>
            </a:r>
            <a:r>
              <a:rPr lang="pt-BR" dirty="0"/>
              <a:t>o centro do sistema de coordenadas </a:t>
            </a:r>
            <a:r>
              <a:rPr lang="pt-BR" dirty="0" smtClean="0"/>
              <a:t>coincide com </a:t>
            </a:r>
            <a:r>
              <a:rPr lang="pt-BR" dirty="0"/>
              <a:t>o seu centro de gravidade (pivô</a:t>
            </a:r>
            <a:r>
              <a:rPr lang="pt-BR" dirty="0" smtClean="0"/>
              <a:t>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076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grpSp>
        <p:nvGrpSpPr>
          <p:cNvPr id="6" name="Grupo 5"/>
          <p:cNvGrpSpPr/>
          <p:nvPr/>
        </p:nvGrpSpPr>
        <p:grpSpPr>
          <a:xfrm>
            <a:off x="251520" y="836712"/>
            <a:ext cx="8712968" cy="5112568"/>
            <a:chOff x="684213" y="1700213"/>
            <a:chExt cx="8208962" cy="4595812"/>
          </a:xfrm>
        </p:grpSpPr>
        <p:pic>
          <p:nvPicPr>
            <p:cNvPr id="4" name="Picture 279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213" y="1700213"/>
              <a:ext cx="8208962" cy="45958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" name="Retângulo 4"/>
            <p:cNvSpPr/>
            <p:nvPr/>
          </p:nvSpPr>
          <p:spPr>
            <a:xfrm>
              <a:off x="1561732" y="2155552"/>
              <a:ext cx="1245954" cy="2376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1636219" y="6183574"/>
            <a:ext cx="86914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pt-BR" dirty="0" smtClean="0"/>
              <a:t>Mundo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6444208" y="6093296"/>
            <a:ext cx="1049133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pt-BR" dirty="0" err="1" smtClean="0"/>
              <a:t>Viewport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548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Conversão entre os sistemas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Normalmente quando se cria um modelo as informações </a:t>
            </a:r>
            <a:r>
              <a:rPr lang="pt-BR" dirty="0" smtClean="0"/>
              <a:t>gráficas </a:t>
            </a:r>
            <a:r>
              <a:rPr lang="pt-BR" dirty="0"/>
              <a:t>dizem respeito à aplicação e não ao </a:t>
            </a:r>
            <a:r>
              <a:rPr lang="pt-BR" dirty="0" smtClean="0"/>
              <a:t>dispositivo</a:t>
            </a:r>
            <a:r>
              <a:rPr lang="pt-BR" dirty="0"/>
              <a:t>. </a:t>
            </a:r>
            <a:endParaRPr lang="pt-BR" dirty="0" smtClean="0"/>
          </a:p>
          <a:p>
            <a:r>
              <a:rPr lang="pt-BR" dirty="0" smtClean="0"/>
              <a:t>Para </a:t>
            </a:r>
            <a:r>
              <a:rPr lang="pt-BR" dirty="0"/>
              <a:t>visualizar dados num dispositivo gráfico </a:t>
            </a:r>
            <a:r>
              <a:rPr lang="pt-BR" dirty="0" smtClean="0"/>
              <a:t>qualquer</a:t>
            </a:r>
            <a:r>
              <a:rPr lang="pt-BR" dirty="0"/>
              <a:t>, </a:t>
            </a:r>
            <a:r>
              <a:rPr lang="pt-BR" dirty="0" smtClean="0"/>
              <a:t>é necessário </a:t>
            </a:r>
            <a:r>
              <a:rPr lang="pt-BR" dirty="0"/>
              <a:t>que se efetue algumas transformações </a:t>
            </a:r>
            <a:r>
              <a:rPr lang="pt-BR" dirty="0" smtClean="0"/>
              <a:t>entre </a:t>
            </a:r>
            <a:r>
              <a:rPr lang="pt-BR" dirty="0"/>
              <a:t>os </a:t>
            </a:r>
            <a:r>
              <a:rPr lang="pt-BR" dirty="0" smtClean="0"/>
              <a:t>sistemas </a:t>
            </a:r>
            <a:r>
              <a:rPr lang="pt-BR" dirty="0"/>
              <a:t>de referência </a:t>
            </a:r>
            <a:r>
              <a:rPr lang="pt-BR" dirty="0" smtClean="0"/>
              <a:t>estudados</a:t>
            </a:r>
          </a:p>
          <a:p>
            <a:r>
              <a:rPr lang="pt-BR" dirty="0" smtClean="0"/>
              <a:t>Para </a:t>
            </a:r>
            <a:r>
              <a:rPr lang="pt-BR" dirty="0"/>
              <a:t>tal é preciso definir as razões e proporções </a:t>
            </a:r>
            <a:r>
              <a:rPr lang="pt-BR" dirty="0" smtClean="0"/>
              <a:t>entre </a:t>
            </a:r>
            <a:r>
              <a:rPr lang="pt-BR" dirty="0"/>
              <a:t>cada </a:t>
            </a:r>
            <a:r>
              <a:rPr lang="pt-BR" dirty="0" smtClean="0"/>
              <a:t>um </a:t>
            </a:r>
            <a:r>
              <a:rPr lang="pt-BR" dirty="0"/>
              <a:t>dos sistemas</a:t>
            </a:r>
            <a:r>
              <a:rPr lang="pt-BR" dirty="0" smtClean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9737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2696"/>
            <a:ext cx="2066441" cy="2056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692696"/>
            <a:ext cx="2476477" cy="2056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778157" y="2844294"/>
            <a:ext cx="86914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pt-BR" dirty="0" smtClean="0"/>
              <a:t>Mundo</a:t>
            </a:r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3197439" y="2844294"/>
            <a:ext cx="1049133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pt-BR" dirty="0" err="1" smtClean="0"/>
              <a:t>Viewport</a:t>
            </a:r>
            <a:endParaRPr lang="pt-BR" dirty="0"/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850879"/>
              </p:ext>
            </p:extLst>
          </p:nvPr>
        </p:nvGraphicFramePr>
        <p:xfrm>
          <a:off x="5292080" y="1164873"/>
          <a:ext cx="367233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897"/>
                <a:gridCol w="1411605"/>
                <a:gridCol w="117983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Mundo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Viewport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Mínimos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0, 0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0, 0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Máximos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(1000, 1500)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(640, 480)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357338"/>
            <a:ext cx="3979315" cy="2215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5508" y="3321231"/>
            <a:ext cx="4710655" cy="2215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7524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Transformada de </a:t>
            </a:r>
            <a:r>
              <a:rPr lang="pt-BR" dirty="0" err="1" smtClean="0"/>
              <a:t>Viewport</a:t>
            </a:r>
            <a:endParaRPr lang="pt-BR" dirty="0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696806"/>
              </p:ext>
            </p:extLst>
          </p:nvPr>
        </p:nvGraphicFramePr>
        <p:xfrm>
          <a:off x="509588" y="2339975"/>
          <a:ext cx="8053387" cy="140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Equação" r:id="rId3" imgW="2489040" imgH="431640" progId="Equation.3">
                  <p:embed/>
                </p:oleObj>
              </mc:Choice>
              <mc:Fallback>
                <p:oleObj name="Equação" r:id="rId3" imgW="2489040" imgH="431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2339975"/>
                        <a:ext cx="8053387" cy="1404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2271466"/>
              </p:ext>
            </p:extLst>
          </p:nvPr>
        </p:nvGraphicFramePr>
        <p:xfrm>
          <a:off x="468313" y="4264818"/>
          <a:ext cx="8172450" cy="146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name="Equation" r:id="rId5" imgW="2489200" imgH="444500" progId="Equation.3">
                  <p:embed/>
                </p:oleObj>
              </mc:Choice>
              <mc:Fallback>
                <p:oleObj name="Equation" r:id="rId5" imgW="2489200" imgH="444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264818"/>
                        <a:ext cx="8172450" cy="146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765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Crie uma classe Ponto2D que permita:</a:t>
            </a:r>
          </a:p>
          <a:p>
            <a:pPr lvl="1"/>
            <a:r>
              <a:rPr lang="pt-BR" dirty="0" smtClean="0"/>
              <a:t>Armazenar uma coordenada (x e y) de </a:t>
            </a:r>
            <a:r>
              <a:rPr lang="pt-BR" b="1" dirty="0" smtClean="0"/>
              <a:t>mundo</a:t>
            </a:r>
          </a:p>
          <a:p>
            <a:pPr lvl="1"/>
            <a:r>
              <a:rPr lang="pt-BR" dirty="0" smtClean="0"/>
              <a:t>Fazer a transformação de coordenada de mundo para </a:t>
            </a:r>
            <a:r>
              <a:rPr lang="pt-BR" b="1" dirty="0" err="1" smtClean="0"/>
              <a:t>viewport</a:t>
            </a:r>
            <a:endParaRPr lang="pt-BR" b="1" dirty="0" smtClean="0"/>
          </a:p>
          <a:p>
            <a:r>
              <a:rPr lang="pt-BR" dirty="0"/>
              <a:t>Crie uma classe </a:t>
            </a:r>
            <a:r>
              <a:rPr lang="pt-BR" dirty="0" err="1" smtClean="0"/>
              <a:t>Poligono</a:t>
            </a:r>
            <a:r>
              <a:rPr lang="pt-BR" dirty="0" smtClean="0"/>
              <a:t> </a:t>
            </a:r>
            <a:r>
              <a:rPr lang="pt-BR" dirty="0"/>
              <a:t>que </a:t>
            </a:r>
            <a:r>
              <a:rPr lang="pt-BR" dirty="0" smtClean="0"/>
              <a:t>terá um vetor de Ponto2D, </a:t>
            </a:r>
            <a:r>
              <a:rPr lang="pt-BR" dirty="0"/>
              <a:t>uma </a:t>
            </a:r>
            <a:r>
              <a:rPr lang="pt-BR" dirty="0" smtClean="0"/>
              <a:t>identificação e </a:t>
            </a:r>
            <a:r>
              <a:rPr lang="pt-BR" dirty="0"/>
              <a:t>um tipo </a:t>
            </a:r>
          </a:p>
          <a:p>
            <a:r>
              <a:rPr lang="pt-BR" dirty="0" smtClean="0"/>
              <a:t>Crie uma classe </a:t>
            </a:r>
            <a:r>
              <a:rPr lang="pt-BR" dirty="0" err="1" smtClean="0"/>
              <a:t>displayFile</a:t>
            </a:r>
            <a:r>
              <a:rPr lang="pt-BR" dirty="0" smtClean="0"/>
              <a:t> que permitira armazenar um vetor de </a:t>
            </a:r>
            <a:r>
              <a:rPr lang="pt-BR" dirty="0" err="1" smtClean="0"/>
              <a:t>Poligono</a:t>
            </a:r>
            <a:endParaRPr lang="pt-BR" dirty="0" smtClean="0"/>
          </a:p>
          <a:p>
            <a:r>
              <a:rPr lang="pt-BR" dirty="0" smtClean="0"/>
              <a:t>Crie </a:t>
            </a:r>
            <a:r>
              <a:rPr lang="pt-BR" dirty="0"/>
              <a:t>uma interface gráfica que permita </a:t>
            </a:r>
            <a:r>
              <a:rPr lang="pt-BR" dirty="0" smtClean="0"/>
              <a:t>:</a:t>
            </a:r>
          </a:p>
          <a:p>
            <a:pPr lvl="1"/>
            <a:r>
              <a:rPr lang="pt-BR" dirty="0" smtClean="0"/>
              <a:t>Desenhar o eixo de coordenadas cartesianas</a:t>
            </a:r>
          </a:p>
          <a:p>
            <a:pPr lvl="1"/>
            <a:r>
              <a:rPr lang="pt-BR" dirty="0" smtClean="0"/>
              <a:t>Interação do usuário na tela (</a:t>
            </a:r>
            <a:r>
              <a:rPr lang="pt-BR" dirty="0" err="1" smtClean="0"/>
              <a:t>viewport</a:t>
            </a:r>
            <a:r>
              <a:rPr lang="pt-BR" dirty="0" smtClean="0"/>
              <a:t>) e armazena-los em coordenadas de mundo</a:t>
            </a:r>
          </a:p>
          <a:p>
            <a:pPr lvl="1"/>
            <a:r>
              <a:rPr lang="pt-BR" dirty="0" smtClean="0"/>
              <a:t>Fazer </a:t>
            </a:r>
            <a:r>
              <a:rPr lang="pt-BR" dirty="0"/>
              <a:t>a navegação 2D (movimentação do </a:t>
            </a:r>
            <a:r>
              <a:rPr lang="pt-BR" dirty="0" err="1" smtClean="0"/>
              <a:t>window</a:t>
            </a:r>
            <a:r>
              <a:rPr lang="pt-BR" dirty="0" smtClean="0"/>
              <a:t>  no mundo).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304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12875"/>
            <a:ext cx="7812087" cy="484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099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Curiosidades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>
                <a:hlinkClick r:id="rId2"/>
              </a:rPr>
              <a:t>CPU x GPU </a:t>
            </a:r>
            <a:r>
              <a:rPr lang="pt-BR" dirty="0" smtClean="0">
                <a:sym typeface="Wingdings" pitchFamily="2" charset="2"/>
                <a:hlinkClick r:id="rId2"/>
              </a:rPr>
              <a:t> </a:t>
            </a:r>
            <a:r>
              <a:rPr lang="pt-BR" dirty="0" smtClean="0">
                <a:hlinkClick r:id="rId2"/>
              </a:rPr>
              <a:t>https</a:t>
            </a:r>
            <a:r>
              <a:rPr lang="pt-BR" dirty="0">
                <a:hlinkClick r:id="rId2"/>
              </a:rPr>
              <a:t>://www.youtube.com/watch?v=mwDPb3T8bOQ</a:t>
            </a:r>
          </a:p>
          <a:p>
            <a:r>
              <a:rPr lang="pt-BR" dirty="0" smtClean="0">
                <a:hlinkClick r:id="rId2"/>
              </a:rPr>
              <a:t>http</a:t>
            </a:r>
            <a:r>
              <a:rPr lang="pt-BR" dirty="0">
                <a:hlinkClick r:id="rId2"/>
              </a:rPr>
              <a:t>://</a:t>
            </a:r>
            <a:r>
              <a:rPr lang="pt-BR" dirty="0" smtClean="0">
                <a:hlinkClick r:id="rId2"/>
              </a:rPr>
              <a:t>buratto.org/otica/Indice.htm</a:t>
            </a: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634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cro">
  <a:themeElements>
    <a:clrScheme name="Macro">
      <a:dk1>
        <a:sysClr val="windowText" lastClr="000000"/>
      </a:dk1>
      <a:lt1>
        <a:sysClr val="window" lastClr="FFFFFF"/>
      </a:lt1>
      <a:dk2>
        <a:srgbClr val="3F3F4D"/>
      </a:dk2>
      <a:lt2>
        <a:srgbClr val="DDDDDD"/>
      </a:lt2>
      <a:accent1>
        <a:srgbClr val="A51009"/>
      </a:accent1>
      <a:accent2>
        <a:srgbClr val="DE7014"/>
      </a:accent2>
      <a:accent3>
        <a:srgbClr val="704836"/>
      </a:accent3>
      <a:accent4>
        <a:srgbClr val="F2B431"/>
      </a:accent4>
      <a:accent5>
        <a:srgbClr val="7F221D"/>
      </a:accent5>
      <a:accent6>
        <a:srgbClr val="CDAC77"/>
      </a:accent6>
      <a:hlink>
        <a:srgbClr val="F5B123"/>
      </a:hlink>
      <a:folHlink>
        <a:srgbClr val="E19B0B"/>
      </a:folHlink>
    </a:clrScheme>
    <a:fontScheme name="Macr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cr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300000"/>
              </a:schemeClr>
            </a:gs>
            <a:gs pos="100000">
              <a:schemeClr val="phClr">
                <a:tint val="80000"/>
                <a:satMod val="15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hade val="90000"/>
                <a:satMod val="300000"/>
              </a:schemeClr>
            </a:gs>
            <a:gs pos="100000">
              <a:schemeClr val="phClr">
                <a:satMod val="150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70000"/>
              </a:srgbClr>
            </a:outerShdw>
          </a:effectLst>
        </a:effectStyle>
        <a:effectStyle>
          <a:effectLst>
            <a:outerShdw blurRad="25400" dist="254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contourW="15875" prstMaterial="softmetal">
            <a:bevelT w="25400" h="19050" prst="angle"/>
            <a:contourClr>
              <a:schemeClr val="phClr">
                <a:shade val="30000"/>
              </a:schemeClr>
            </a:contourClr>
          </a:sp3d>
        </a:effectStyle>
        <a:effectStyle>
          <a:effectLst>
            <a:outerShdw blurRad="254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contourW="19050" prstMaterial="metal">
            <a:bevelT w="63500" h="31750" prst="angle"/>
            <a:contourClr>
              <a:schemeClr val="phClr">
                <a:shade val="25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7000"/>
                <a:shade val="93000"/>
                <a:satMod val="110000"/>
                <a:lumMod val="90000"/>
              </a:schemeClr>
            </a:gs>
            <a:gs pos="76000">
              <a:schemeClr val="phClr">
                <a:tint val="85000"/>
                <a:shade val="75000"/>
                <a:satMod val="120000"/>
              </a:schemeClr>
            </a:gs>
            <a:gs pos="100000">
              <a:schemeClr val="phClr">
                <a:tint val="86000"/>
                <a:shade val="50000"/>
                <a:satMod val="13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35000"/>
                <a:satMod val="146000"/>
                <a:lumMod val="101000"/>
              </a:schemeClr>
            </a:gs>
            <a:gs pos="26000">
              <a:schemeClr val="phClr">
                <a:tint val="96000"/>
                <a:shade val="96000"/>
                <a:satMod val="190000"/>
              </a:schemeClr>
            </a:gs>
            <a:gs pos="100000">
              <a:schemeClr val="phClr">
                <a:tint val="60000"/>
                <a:shade val="90000"/>
                <a:satMod val="22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TC101859866[[fn=Macro]]</Template>
  <TotalTime>8357</TotalTime>
  <Words>1448</Words>
  <Application>Microsoft Office PowerPoint</Application>
  <PresentationFormat>Apresentação na tela (4:3)</PresentationFormat>
  <Paragraphs>157</Paragraphs>
  <Slides>29</Slides>
  <Notes>1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2</vt:i4>
      </vt:variant>
      <vt:variant>
        <vt:lpstr>Títulos de slides</vt:lpstr>
      </vt:variant>
      <vt:variant>
        <vt:i4>29</vt:i4>
      </vt:variant>
    </vt:vector>
  </HeadingPairs>
  <TitlesOfParts>
    <vt:vector size="32" baseType="lpstr">
      <vt:lpstr>Macro</vt:lpstr>
      <vt:lpstr>Microsoft Equation 3.0</vt:lpstr>
      <vt:lpstr>Equation</vt:lpstr>
      <vt:lpstr>Computação Gráfica</vt:lpstr>
      <vt:lpstr>Introdução</vt:lpstr>
      <vt:lpstr>Computação Gráfica</vt:lpstr>
      <vt:lpstr>Síntese de Imagens</vt:lpstr>
      <vt:lpstr>Síntese de Imagens</vt:lpstr>
      <vt:lpstr>Processamento de Imagens</vt:lpstr>
      <vt:lpstr>Análise de Imagens</vt:lpstr>
      <vt:lpstr>História da Computação Gráfica</vt:lpstr>
      <vt:lpstr>História da Computação Gráfica</vt:lpstr>
      <vt:lpstr>História da Computação Gráfica</vt:lpstr>
      <vt:lpstr>Progressos Obtidos nos Anos 60 </vt:lpstr>
      <vt:lpstr>Progressos Obtidos nos Anos 70 </vt:lpstr>
      <vt:lpstr>Progressos Obtidos nos Anos 80 </vt:lpstr>
      <vt:lpstr>Dispositivos de CG</vt:lpstr>
      <vt:lpstr>Dispositivos de CG</vt:lpstr>
      <vt:lpstr>Dispositivos de CG</vt:lpstr>
      <vt:lpstr>Dispositivos de CG</vt:lpstr>
      <vt:lpstr>Sistemas de Coordenadas</vt:lpstr>
      <vt:lpstr>Sistemas de coordenadas do mundo</vt:lpstr>
      <vt:lpstr>Sistemas de coordenadas do dispositivo</vt:lpstr>
      <vt:lpstr>Sistemas de coordenadas normalizadas</vt:lpstr>
      <vt:lpstr>Sistemas de coordenadas do objeto</vt:lpstr>
      <vt:lpstr>Apresentação do PowerPoint</vt:lpstr>
      <vt:lpstr>Conversão entre os sistemas</vt:lpstr>
      <vt:lpstr>Apresentação do PowerPoint</vt:lpstr>
      <vt:lpstr>Transformada de Viewport</vt:lpstr>
      <vt:lpstr>Exercício</vt:lpstr>
      <vt:lpstr>Apresentação do PowerPoint</vt:lpstr>
      <vt:lpstr>Curiosidades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Computação Gráfica</dc:title>
  <dc:creator>Pedro</dc:creator>
  <cp:lastModifiedBy>Pedro</cp:lastModifiedBy>
  <cp:revision>42</cp:revision>
  <dcterms:created xsi:type="dcterms:W3CDTF">2014-03-06T18:22:41Z</dcterms:created>
  <dcterms:modified xsi:type="dcterms:W3CDTF">2014-03-12T13:39:50Z</dcterms:modified>
</cp:coreProperties>
</file>