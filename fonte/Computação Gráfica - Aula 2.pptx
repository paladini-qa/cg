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8"/>
  </p:notesMasterIdLst>
  <p:sldIdLst>
    <p:sldId id="256" r:id="rId2"/>
    <p:sldId id="276" r:id="rId3"/>
    <p:sldId id="277" r:id="rId4"/>
    <p:sldId id="278" r:id="rId5"/>
    <p:sldId id="279" r:id="rId6"/>
    <p:sldId id="300" r:id="rId7"/>
    <p:sldId id="280" r:id="rId8"/>
    <p:sldId id="281" r:id="rId9"/>
    <p:sldId id="282" r:id="rId10"/>
    <p:sldId id="283" r:id="rId11"/>
    <p:sldId id="301" r:id="rId12"/>
    <p:sldId id="298" r:id="rId13"/>
    <p:sldId id="299" r:id="rId14"/>
    <p:sldId id="302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7" r:id="rId25"/>
    <p:sldId id="266" r:id="rId26"/>
    <p:sldId id="268" r:id="rId27"/>
    <p:sldId id="269" r:id="rId28"/>
    <p:sldId id="270" r:id="rId29"/>
    <p:sldId id="271" r:id="rId30"/>
    <p:sldId id="272" r:id="rId31"/>
    <p:sldId id="273" r:id="rId32"/>
    <p:sldId id="275" r:id="rId33"/>
    <p:sldId id="284" r:id="rId34"/>
    <p:sldId id="274" r:id="rId35"/>
    <p:sldId id="285" r:id="rId36"/>
    <p:sldId id="286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2F034-1E96-4F96-BF9C-F7D95044FB50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E5137-3EE0-48F1-8298-269108269C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38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9_02.jpg"/>
          <p:cNvPicPr preferRelativeResize="0">
            <a:picLocks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754112" y="0"/>
            <a:ext cx="73152" cy="6858000"/>
          </a:xfrm>
          <a:prstGeom prst="rect">
            <a:avLst/>
          </a:prstGeom>
        </p:spPr>
      </p:pic>
      <p:pic>
        <p:nvPicPr>
          <p:cNvPr id="7" name="Picture 6" descr="1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0"/>
            <a:ext cx="1333500" cy="685800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0352"/>
            <a:ext cx="9144000" cy="228600"/>
            <a:chOff x="0" y="6582727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7813040" y="6582727"/>
              <a:ext cx="1330960" cy="228600"/>
            </a:xfrm>
            <a:prstGeom prst="rect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134101" y="6582727"/>
              <a:ext cx="1609724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582727"/>
              <a:ext cx="6096000" cy="228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371600"/>
            <a:ext cx="6781800" cy="1069975"/>
          </a:xfrm>
        </p:spPr>
        <p:txBody>
          <a:bodyPr bIns="0" anchor="b" anchorCtr="0">
            <a:noAutofit/>
          </a:bodyPr>
          <a:lstStyle>
            <a:lvl1pPr>
              <a:defRPr sz="4200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438400"/>
            <a:ext cx="6781800" cy="762000"/>
          </a:xfrm>
        </p:spPr>
        <p:txBody>
          <a:bodyPr lIns="0" tIns="0" rIns="0">
            <a:normAutofit/>
          </a:bodyPr>
          <a:lstStyle>
            <a:lvl1pPr marL="0" indent="0" algn="l">
              <a:buNone/>
              <a:defRPr sz="2400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>
          <a:xfrm>
            <a:off x="6210300" y="6610350"/>
            <a:ext cx="1524000" cy="228600"/>
          </a:xfrm>
        </p:spPr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>
          <a:xfrm>
            <a:off x="7924800" y="6610350"/>
            <a:ext cx="1198880" cy="228600"/>
          </a:xfrm>
        </p:spPr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>
          <a:xfrm>
            <a:off x="457200" y="6611112"/>
            <a:ext cx="5600700" cy="22860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32" name="Rectangle 3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2"/>
          <p:cNvGrpSpPr/>
          <p:nvPr/>
        </p:nvGrpSpPr>
        <p:grpSpPr>
          <a:xfrm>
            <a:off x="1438274" y="6629400"/>
            <a:ext cx="7705726" cy="228600"/>
            <a:chOff x="1438274" y="6629400"/>
            <a:chExt cx="7705726" cy="228600"/>
          </a:xfrm>
        </p:grpSpPr>
        <p:sp>
          <p:nvSpPr>
            <p:cNvPr id="27" name="Rectangle 26"/>
            <p:cNvSpPr/>
            <p:nvPr/>
          </p:nvSpPr>
          <p:spPr>
            <a:xfrm>
              <a:off x="8763000" y="662940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142480" y="662940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38274" y="6629400"/>
              <a:ext cx="5663565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5245101"/>
            <a:ext cx="6934199" cy="1155700"/>
          </a:xfrm>
        </p:spPr>
        <p:txBody>
          <a:bodyPr anchor="t">
            <a:normAutofit/>
          </a:bodyPr>
          <a:lstStyle>
            <a:lvl1pPr algn="r">
              <a:defRPr sz="4200" b="0" i="0" cap="none" baseline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2600" y="4114800"/>
            <a:ext cx="6934199" cy="1130300"/>
          </a:xfrm>
        </p:spPr>
        <p:txBody>
          <a:bodyPr anchor="b">
            <a:normAutofit/>
          </a:bodyPr>
          <a:lstStyle>
            <a:lvl1pPr marL="0" indent="0" algn="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0" name="Picture 9" descr="9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63980" cy="6858000"/>
          </a:xfrm>
          <a:prstGeom prst="rect">
            <a:avLst/>
          </a:prstGeom>
        </p:spPr>
      </p:pic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>
          <a:xfrm>
            <a:off x="7162800" y="6610350"/>
            <a:ext cx="1524000" cy="246888"/>
          </a:xfrm>
        </p:spPr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1"/>
          </p:nvPr>
        </p:nvSpPr>
        <p:spPr>
          <a:xfrm>
            <a:off x="8742680" y="6610350"/>
            <a:ext cx="381000" cy="246888"/>
          </a:xfrm>
        </p:spPr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2"/>
          </p:nvPr>
        </p:nvSpPr>
        <p:spPr>
          <a:xfrm>
            <a:off x="1524000" y="6610350"/>
            <a:ext cx="5562600" cy="247650"/>
          </a:xfrm>
        </p:spPr>
        <p:txBody>
          <a:bodyPr/>
          <a:lstStyle/>
          <a:p>
            <a:endParaRPr lang="pt-BR"/>
          </a:p>
        </p:txBody>
      </p:sp>
      <p:pic>
        <p:nvPicPr>
          <p:cNvPr id="20" name="Picture 19" descr="vert_bar_02.png"/>
          <p:cNvPicPr preferRelativeResize="0">
            <a:picLocks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362456" y="0"/>
            <a:ext cx="731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ar_06.png"/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4" name="Content Placeholder 13"/>
          <p:cNvSpPr>
            <a:spLocks noGrp="1"/>
          </p:cNvSpPr>
          <p:nvPr>
            <p:ph sz="quarter" idx="13"/>
          </p:nvPr>
        </p:nvSpPr>
        <p:spPr>
          <a:xfrm>
            <a:off x="457200" y="1981200"/>
            <a:ext cx="40386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4"/>
          </p:nvPr>
        </p:nvSpPr>
        <p:spPr>
          <a:xfrm>
            <a:off x="4648200" y="1981200"/>
            <a:ext cx="40386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grpSp>
        <p:nvGrpSpPr>
          <p:cNvPr id="3" name="Group 14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4" name="Picture 13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3"/>
          </p:nvPr>
        </p:nvSpPr>
        <p:spPr>
          <a:xfrm>
            <a:off x="4648200" y="1981200"/>
            <a:ext cx="4040188" cy="411162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6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4"/>
          </p:nvPr>
        </p:nvSpPr>
        <p:spPr>
          <a:xfrm>
            <a:off x="457200" y="2438400"/>
            <a:ext cx="4038600" cy="3657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5"/>
          </p:nvPr>
        </p:nvSpPr>
        <p:spPr>
          <a:xfrm>
            <a:off x="4648200" y="2438400"/>
            <a:ext cx="4038600" cy="36576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pic>
        <p:nvPicPr>
          <p:cNvPr id="16" name="Picture 15" descr="bar_06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4" name="Group 17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20" name="Rectangle 1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Date Placeholder 2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pic>
        <p:nvPicPr>
          <p:cNvPr id="10" name="Picture 9" descr="2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3" name="Group 11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0" name="Rectangle 9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3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sp>
        <p:nvSpPr>
          <p:cNvPr id="13" name="Text Placeholder 2"/>
          <p:cNvSpPr>
            <a:spLocks noGrp="1"/>
          </p:cNvSpPr>
          <p:nvPr>
            <p:ph type="title"/>
          </p:nvPr>
        </p:nvSpPr>
        <p:spPr>
          <a:xfrm>
            <a:off x="457200" y="1524000"/>
            <a:ext cx="3352800" cy="914400"/>
          </a:xfrm>
        </p:spPr>
        <p:txBody>
          <a:bodyPr lIns="0" rIns="0"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i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título mestre</a:t>
            </a:r>
            <a:endParaRPr lang="en-US" smtClean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4419600" y="1524000"/>
            <a:ext cx="4267200" cy="4114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1" y="2514599"/>
            <a:ext cx="3352800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pic>
        <p:nvPicPr>
          <p:cNvPr id="14" name="Picture 13" descr="bar_06.pn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grpSp>
        <p:nvGrpSpPr>
          <p:cNvPr id="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7" name="Rectangle 16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5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3" name="Rectangle 12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048"/>
            <a:ext cx="3355848" cy="914400"/>
          </a:xfrm>
        </p:spPr>
        <p:txBody>
          <a:bodyPr anchor="b">
            <a:normAutofit/>
          </a:bodyPr>
          <a:lstStyle>
            <a:lvl1pPr algn="l">
              <a:defRPr lang="en-US" sz="1800" b="1" i="0" kern="1200" cap="all" spc="1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Font typeface="Wingdings" pitchFamily="2" charset="2"/>
              <a:buNone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5696" y="1554480"/>
            <a:ext cx="4270248" cy="4059936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514600"/>
            <a:ext cx="3355848" cy="312724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en-US" sz="1400" kern="1200" baseline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Picture 7" descr="4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  <p:pic>
        <p:nvPicPr>
          <p:cNvPr id="9" name="Picture 8" descr="bar_06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4419600" y="1524000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419600" y="5637212"/>
            <a:ext cx="4267200" cy="15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89085"/>
            <a:ext cx="2057400" cy="553707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85216"/>
            <a:ext cx="6019800" cy="554126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grpSp>
        <p:nvGrpSpPr>
          <p:cNvPr id="4" name="Group 10"/>
          <p:cNvGrpSpPr/>
          <p:nvPr/>
        </p:nvGrpSpPr>
        <p:grpSpPr>
          <a:xfrm>
            <a:off x="0" y="6631305"/>
            <a:ext cx="9144000" cy="228600"/>
            <a:chOff x="0" y="6583680"/>
            <a:chExt cx="9144000" cy="228600"/>
          </a:xfrm>
        </p:grpSpPr>
        <p:sp>
          <p:nvSpPr>
            <p:cNvPr id="12" name="Rectangle 11"/>
            <p:cNvSpPr/>
            <p:nvPr/>
          </p:nvSpPr>
          <p:spPr>
            <a:xfrm>
              <a:off x="8763000" y="6583680"/>
              <a:ext cx="381000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142480" y="6583680"/>
              <a:ext cx="1581912" cy="228600"/>
            </a:xfrm>
            <a:prstGeom prst="rect">
              <a:avLst/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6583680"/>
              <a:ext cx="7101840" cy="228600"/>
            </a:xfrm>
            <a:prstGeom prst="rect">
              <a:avLst/>
            </a:prstGeom>
            <a:solidFill>
              <a:schemeClr val="bg1"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Picture 10" descr="bar_06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403860"/>
            <a:ext cx="9144000" cy="53340"/>
          </a:xfrm>
          <a:prstGeom prst="rect">
            <a:avLst/>
          </a:prstGeom>
        </p:spPr>
      </p:pic>
      <p:pic>
        <p:nvPicPr>
          <p:cNvPr id="14" name="Picture 13" descr="2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4038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8400" y="304800"/>
            <a:ext cx="6477000" cy="16002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2514600" y="2057400"/>
            <a:ext cx="3124200" cy="3962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791200" y="2057400"/>
            <a:ext cx="3124200" cy="3962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922F2-CFBB-4494-A774-47D741B2BD0E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540659-4A57-49CE-B2CB-895D331B18C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19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ítulo, conteúdo e 2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8400" y="304800"/>
            <a:ext cx="6477000" cy="160020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2514600" y="2057400"/>
            <a:ext cx="3124200" cy="39624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2"/>
          </p:nvPr>
        </p:nvSpPr>
        <p:spPr>
          <a:xfrm>
            <a:off x="5791200" y="2057400"/>
            <a:ext cx="3124200" cy="1905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3"/>
          </p:nvPr>
        </p:nvSpPr>
        <p:spPr>
          <a:xfrm>
            <a:off x="5791200" y="4114800"/>
            <a:ext cx="3124200" cy="1905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9C8414-93AF-4B6B-895B-0AACA03F016D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8068C-3720-4739-A3F9-B9E854595D5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311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34000">
                <a:schemeClr val="bg1">
                  <a:lumMod val="75000"/>
                  <a:alpha val="61000"/>
                </a:schemeClr>
              </a:gs>
              <a:gs pos="38000">
                <a:schemeClr val="bg1">
                  <a:lumMod val="75000"/>
                  <a:alpha val="76000"/>
                </a:schemeClr>
              </a:gs>
              <a:gs pos="10000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914400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41449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62800" y="6610350"/>
            <a:ext cx="1524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C7BF5D29-3882-42EA-9AB1-005A7F77CA51}" type="datetimeFigureOut">
              <a:rPr lang="pt-BR" smtClean="0"/>
              <a:t>09/09/2014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610350"/>
            <a:ext cx="66294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2680" y="6610350"/>
            <a:ext cx="381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2B89E164-A725-4C1E-A418-184A098439E2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Char char="§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tx1">
            <a:lumMod val="50000"/>
            <a:lumOff val="50000"/>
          </a:schemeClr>
        </a:buClr>
        <a:buFont typeface="Wingdings" pitchFamily="2" charset="2"/>
        <a:buNone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53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sz="8800" dirty="0" smtClean="0"/>
              <a:t>Computação Gráfica</a:t>
            </a:r>
            <a:endParaRPr lang="pt-BR" sz="8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Transformações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512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Representação Vetorial x Matricial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Normalmente, gráficos são definidos através de primitivas geométricas como pontos, segmentos de retas, polígonos, </a:t>
            </a:r>
            <a:r>
              <a:rPr lang="pt-BR" dirty="0" err="1"/>
              <a:t>etc</a:t>
            </a:r>
            <a:endParaRPr lang="pt-BR" dirty="0"/>
          </a:p>
          <a:p>
            <a:pPr lvl="1"/>
            <a:r>
              <a:rPr lang="pt-BR" b="1" dirty="0"/>
              <a:t>Representação vetorial</a:t>
            </a:r>
          </a:p>
          <a:p>
            <a:r>
              <a:rPr lang="pt-BR" dirty="0"/>
              <a:t>Dispositivos gráficos podem ser pensados como matrizes de pixels (</a:t>
            </a:r>
            <a:r>
              <a:rPr lang="pt-BR" i="1" dirty="0" err="1"/>
              <a:t>rasters</a:t>
            </a:r>
            <a:r>
              <a:rPr lang="pt-BR" dirty="0"/>
              <a:t>)</a:t>
            </a:r>
          </a:p>
          <a:p>
            <a:pPr lvl="1"/>
            <a:r>
              <a:rPr lang="pt-BR" b="1" dirty="0"/>
              <a:t>Representação matricial</a:t>
            </a:r>
          </a:p>
          <a:p>
            <a:r>
              <a:rPr lang="pt-BR" dirty="0" err="1" smtClean="0"/>
              <a:t>Rasterização</a:t>
            </a:r>
            <a:r>
              <a:rPr lang="pt-BR" dirty="0" smtClean="0"/>
              <a:t> (</a:t>
            </a:r>
            <a:r>
              <a:rPr lang="pt-BR" b="1" i="1" dirty="0" err="1" smtClean="0"/>
              <a:t>rastering</a:t>
            </a:r>
            <a:r>
              <a:rPr lang="pt-BR" dirty="0" smtClean="0"/>
              <a:t>) </a:t>
            </a:r>
            <a:r>
              <a:rPr lang="pt-BR" dirty="0"/>
              <a:t>é o processo de conversão entre representações vetorial e </a:t>
            </a:r>
            <a:r>
              <a:rPr lang="pt-BR" dirty="0" smtClean="0"/>
              <a:t>matricial.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409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Linhas Retas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/>
              <a:lstStyle/>
              <a:p>
                <a:r>
                  <a:rPr lang="pt-BR" dirty="0" smtClean="0"/>
                  <a:t>Do </a:t>
                </a:r>
                <a:r>
                  <a:rPr lang="pt-BR" dirty="0"/>
                  <a:t>ponto de vista matemático, uma reta pode </a:t>
                </a:r>
                <a:r>
                  <a:rPr lang="pt-BR" dirty="0" smtClean="0"/>
                  <a:t>ser descrita </a:t>
                </a:r>
                <a:r>
                  <a:rPr lang="pt-BR" dirty="0"/>
                  <a:t>como</a:t>
                </a:r>
                <a:r>
                  <a:rPr lang="pt-BR" dirty="0" smtClean="0"/>
                  <a:t>: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/>
                        </a:rPr>
                        <m:t>𝑦</m:t>
                      </m:r>
                      <m:r>
                        <a:rPr lang="pt-BR" sz="2800" b="0" i="1" smtClean="0">
                          <a:latin typeface="Cambria Math"/>
                        </a:rPr>
                        <m:t>=</m:t>
                      </m:r>
                      <m:r>
                        <a:rPr lang="pt-BR" sz="2800" b="0" i="1" smtClean="0">
                          <a:latin typeface="Cambria Math"/>
                        </a:rPr>
                        <m:t>𝑚𝑥</m:t>
                      </m:r>
                      <m:r>
                        <a:rPr lang="pt-BR" sz="2800" b="0" i="1" smtClean="0">
                          <a:latin typeface="Cambria Math"/>
                        </a:rPr>
                        <m:t>+</m:t>
                      </m:r>
                      <m:r>
                        <a:rPr lang="pt-BR" sz="2800" b="0" i="1" smtClean="0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pt-BR" sz="2800" dirty="0" smtClean="0"/>
              </a:p>
              <a:p>
                <a:pPr lvl="1"/>
                <a:r>
                  <a:rPr lang="pt-BR" sz="2000" dirty="0" smtClean="0"/>
                  <a:t>M </a:t>
                </a:r>
                <a:r>
                  <a:rPr lang="pt-BR" sz="2000" dirty="0" smtClean="0">
                    <a:sym typeface="Wingdings" pitchFamily="2" charset="2"/>
                  </a:rPr>
                  <a:t> coeficiente angular em relação ao eixo x</a:t>
                </a:r>
              </a:p>
              <a:p>
                <a:pPr lvl="2"/>
                <a:r>
                  <a:rPr lang="pt-BR" sz="2000" dirty="0" smtClean="0">
                    <a:sym typeface="Wingdings" pitchFamily="2" charset="2"/>
                  </a:rPr>
                  <a:t>M &lt;=1 a reta faz um ângulo de 0</a:t>
                </a:r>
                <a:r>
                  <a:rPr lang="pt-BR" sz="2000" baseline="30000" dirty="0">
                    <a:sym typeface="Wingdings" pitchFamily="2" charset="2"/>
                  </a:rPr>
                  <a:t>o</a:t>
                </a:r>
                <a:r>
                  <a:rPr lang="pt-BR" sz="2000" dirty="0" smtClean="0">
                    <a:sym typeface="Wingdings" pitchFamily="2" charset="2"/>
                  </a:rPr>
                  <a:t> a 45</a:t>
                </a:r>
                <a:r>
                  <a:rPr lang="pt-BR" sz="2000" baseline="30000" dirty="0">
                    <a:sym typeface="Wingdings" pitchFamily="2" charset="2"/>
                  </a:rPr>
                  <a:t>o</a:t>
                </a:r>
                <a:r>
                  <a:rPr lang="pt-BR" sz="2000" dirty="0" smtClean="0">
                    <a:sym typeface="Wingdings" pitchFamily="2" charset="2"/>
                  </a:rPr>
                  <a:t> com o eixo x</a:t>
                </a:r>
              </a:p>
              <a:p>
                <a:pPr lvl="2"/>
                <a:r>
                  <a:rPr lang="pt-BR" sz="2000" dirty="0" smtClean="0">
                    <a:sym typeface="Wingdings" pitchFamily="2" charset="2"/>
                  </a:rPr>
                  <a:t>M &gt; 1 a reta faz um ângulo entre 45</a:t>
                </a:r>
                <a:r>
                  <a:rPr lang="pt-BR" sz="2000" baseline="30000" dirty="0">
                    <a:sym typeface="Wingdings" pitchFamily="2" charset="2"/>
                  </a:rPr>
                  <a:t>o</a:t>
                </a:r>
                <a:r>
                  <a:rPr lang="pt-BR" sz="2000" dirty="0" smtClean="0">
                    <a:sym typeface="Wingdings" pitchFamily="2" charset="2"/>
                  </a:rPr>
                  <a:t> e 90</a:t>
                </a:r>
                <a:r>
                  <a:rPr lang="pt-BR" sz="2000" baseline="30000" dirty="0" smtClean="0">
                    <a:sym typeface="Wingdings" pitchFamily="2" charset="2"/>
                  </a:rPr>
                  <a:t>o</a:t>
                </a:r>
                <a:r>
                  <a:rPr lang="pt-BR" sz="2000" dirty="0" smtClean="0">
                    <a:sym typeface="Wingdings" pitchFamily="2" charset="2"/>
                  </a:rPr>
                  <a:t> com o eixo x</a:t>
                </a:r>
                <a:endParaRPr lang="pt-BR" sz="2000" dirty="0"/>
              </a:p>
              <a:p>
                <a:r>
                  <a:rPr lang="pt-BR" dirty="0" smtClean="0"/>
                  <a:t>O coeficiente linear b dá o valor no eixo y que é cruzado pela reta</a:t>
                </a:r>
              </a:p>
              <a:p>
                <a:r>
                  <a:rPr lang="pt-BR" dirty="0" smtClean="0"/>
                  <a:t>Dados 2 pontos P1 e P2, obtém-se m e b através de: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7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1187624" y="5301208"/>
                <a:ext cx="2088232" cy="7862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/>
                        </a:rPr>
                        <m:t>𝑚</m:t>
                      </m:r>
                      <m:r>
                        <a:rPr lang="pt-BR" sz="2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 smtClean="0">
                              <a:latin typeface="Cambria Math"/>
                            </a:rPr>
                            <m:t>2</m:t>
                          </m:r>
                          <m:r>
                            <a:rPr lang="pt-BR" sz="2400" i="1">
                              <a:latin typeface="Cambria Math"/>
                            </a:rPr>
                            <m:t>−</m:t>
                          </m:r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2−</m:t>
                          </m:r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5301208"/>
                <a:ext cx="2088232" cy="7862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ângulo 7"/>
              <p:cNvSpPr/>
              <p:nvPr/>
            </p:nvSpPr>
            <p:spPr>
              <a:xfrm>
                <a:off x="4427984" y="5463495"/>
                <a:ext cx="2376264" cy="4616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𝑏</m:t>
                      </m:r>
                      <m:r>
                        <a:rPr lang="pt-BR" sz="2400" b="0" i="1" smtClean="0">
                          <a:latin typeface="Cambria Math"/>
                        </a:rPr>
                        <m:t>=</m:t>
                      </m:r>
                      <m:r>
                        <a:rPr lang="pt-BR" sz="2400" b="0" i="1" smtClean="0">
                          <a:latin typeface="Cambria Math"/>
                        </a:rPr>
                        <m:t>𝑦</m:t>
                      </m:r>
                      <m:r>
                        <a:rPr lang="pt-BR" sz="2400" b="0" i="1" smtClean="0">
                          <a:latin typeface="Cambria Math"/>
                        </a:rPr>
                        <m:t>1 −</m:t>
                      </m:r>
                      <m:r>
                        <a:rPr lang="pt-BR" sz="2400" b="0" i="1" smtClean="0">
                          <a:latin typeface="Cambria Math"/>
                        </a:rPr>
                        <m:t>𝑚𝑥</m:t>
                      </m:r>
                      <m:r>
                        <a:rPr lang="pt-BR" sz="2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8" name="Retâ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5463495"/>
                <a:ext cx="2376264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4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64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</a:t>
            </a:r>
            <a:r>
              <a:rPr lang="pt-BR" dirty="0" smtClean="0"/>
              <a:t>Retas </a:t>
            </a:r>
            <a:r>
              <a:rPr lang="pt-BR" dirty="0"/>
              <a:t>- Algoritmo </a:t>
            </a:r>
            <a:r>
              <a:rPr lang="pt-BR" dirty="0" smtClean="0"/>
              <a:t>DDA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A </a:t>
            </a:r>
            <a:r>
              <a:rPr lang="pt-BR" sz="2400" dirty="0"/>
              <a:t>partir das equações apresentadas para a reta, </a:t>
            </a:r>
            <a:r>
              <a:rPr lang="pt-BR" sz="2400" dirty="0" smtClean="0"/>
              <a:t>pode-se definir </a:t>
            </a:r>
            <a:r>
              <a:rPr lang="pt-BR" sz="2400" dirty="0"/>
              <a:t>algoritmos para </a:t>
            </a:r>
            <a:r>
              <a:rPr lang="pt-BR" sz="2400" dirty="0" smtClean="0"/>
              <a:t>desenhar </a:t>
            </a:r>
            <a:r>
              <a:rPr lang="pt-BR" sz="2400" dirty="0"/>
              <a:t>um segmento de reta </a:t>
            </a:r>
            <a:r>
              <a:rPr lang="pt-BR" sz="2400" dirty="0" smtClean="0"/>
              <a:t>a partir </a:t>
            </a:r>
            <a:r>
              <a:rPr lang="pt-BR" sz="2400" dirty="0"/>
              <a:t>de dois pontos dados</a:t>
            </a:r>
            <a:r>
              <a:rPr lang="pt-BR" sz="2400" dirty="0" smtClean="0"/>
              <a:t>.</a:t>
            </a:r>
          </a:p>
          <a:p>
            <a:r>
              <a:rPr lang="pt-BR" sz="2400" dirty="0"/>
              <a:t>Algoritmo DDA </a:t>
            </a:r>
            <a:r>
              <a:rPr lang="pt-BR" sz="2400" dirty="0" smtClean="0"/>
              <a:t>(</a:t>
            </a:r>
            <a:r>
              <a:rPr lang="pt-BR" sz="2400" i="1" dirty="0" smtClean="0"/>
              <a:t>Digital </a:t>
            </a:r>
            <a:r>
              <a:rPr lang="pt-BR" sz="2400" i="1" dirty="0" err="1"/>
              <a:t>Differential</a:t>
            </a:r>
            <a:r>
              <a:rPr lang="pt-BR" sz="2400" i="1" dirty="0"/>
              <a:t> </a:t>
            </a:r>
            <a:r>
              <a:rPr lang="pt-BR" sz="2400" i="1" dirty="0" err="1" smtClean="0"/>
              <a:t>Analyser</a:t>
            </a:r>
            <a:r>
              <a:rPr lang="pt-BR" sz="2400" dirty="0" smtClean="0"/>
              <a:t>) </a:t>
            </a:r>
            <a:r>
              <a:rPr lang="pt-BR" sz="2400" dirty="0"/>
              <a:t>– </a:t>
            </a:r>
            <a:r>
              <a:rPr lang="pt-BR" sz="2400" dirty="0" smtClean="0"/>
              <a:t>Baseia-se </a:t>
            </a:r>
            <a:r>
              <a:rPr lang="pt-BR" sz="2400" dirty="0"/>
              <a:t>na aplicação direta das fórmulas que descrevem uma </a:t>
            </a:r>
            <a:r>
              <a:rPr lang="pt-BR" sz="2400" dirty="0" smtClean="0"/>
              <a:t>reta </a:t>
            </a:r>
            <a:r>
              <a:rPr lang="pt-BR" sz="2400" dirty="0"/>
              <a:t>no </a:t>
            </a:r>
            <a:r>
              <a:rPr lang="pt-BR" sz="2400" dirty="0" smtClean="0"/>
              <a:t>plano, para P1 e P2. </a:t>
            </a:r>
            <a:endParaRPr lang="pt-BR" sz="24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 smtClean="0"/>
              <a:t>Pinta-se o pixel do ponto P1 (x1 </a:t>
            </a:r>
            <a:r>
              <a:rPr lang="pt-BR" sz="1800" dirty="0"/>
              <a:t>,</a:t>
            </a:r>
            <a:r>
              <a:rPr lang="pt-BR" sz="1800" dirty="0" smtClean="0"/>
              <a:t>y1), </a:t>
            </a:r>
            <a:r>
              <a:rPr lang="pt-BR" sz="1800" dirty="0"/>
              <a:t>e atribuem-se às variáveis </a:t>
            </a:r>
            <a:r>
              <a:rPr lang="pt-BR" sz="1800" dirty="0" smtClean="0"/>
              <a:t>x = x1, e y = y1.</a:t>
            </a:r>
            <a:endParaRPr lang="pt-BR" sz="1800" dirty="0"/>
          </a:p>
          <a:p>
            <a:pPr marL="800100" lvl="1" indent="-342900">
              <a:buFont typeface="+mj-lt"/>
              <a:buAutoNum type="arabicPeriod"/>
            </a:pPr>
            <a:r>
              <a:rPr lang="pt-BR" sz="1800" dirty="0" smtClean="0"/>
              <a:t>Incrementa-se x e y. Onde x = x+1 e y = </a:t>
            </a:r>
            <a:r>
              <a:rPr lang="pt-BR" sz="1800" dirty="0" err="1" smtClean="0"/>
              <a:t>y+m</a:t>
            </a:r>
            <a:r>
              <a:rPr lang="pt-BR" sz="1800" dirty="0" smtClean="0"/>
              <a:t> </a:t>
            </a:r>
            <a:r>
              <a:rPr lang="pt-BR" sz="1800" dirty="0"/>
              <a:t>e pinta-se esse novo pixel.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1800" dirty="0" smtClean="0"/>
              <a:t>Repete-se </a:t>
            </a:r>
            <a:r>
              <a:rPr lang="pt-BR" sz="1800" dirty="0"/>
              <a:t>o passo 2 até que o ponto P2 seja alcançado.</a:t>
            </a:r>
            <a:endParaRPr lang="pt-BR" sz="1800" dirty="0" smtClean="0"/>
          </a:p>
        </p:txBody>
      </p:sp>
    </p:spTree>
    <p:extLst>
      <p:ext uri="{BB962C8B-B14F-4D97-AF65-F5344CB8AC3E}">
        <p14:creationId xmlns:p14="http://schemas.microsoft.com/office/powerpoint/2010/main" val="85377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</a:t>
            </a:r>
            <a:r>
              <a:rPr lang="pt-BR" dirty="0" smtClean="0"/>
              <a:t>Retas </a:t>
            </a:r>
            <a:r>
              <a:rPr lang="pt-BR" dirty="0"/>
              <a:t>- Algoritmo DDA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DDA é um típico algoritmo incremental, ou seja, são aqueles em que uma das variáveis é obtida </a:t>
            </a:r>
            <a:r>
              <a:rPr lang="pt-BR" dirty="0"/>
              <a:t>apenas incrementando o seu valor, por exemplo X </a:t>
            </a:r>
            <a:r>
              <a:rPr lang="pt-BR" dirty="0" smtClean="0"/>
              <a:t>= X </a:t>
            </a:r>
            <a:r>
              <a:rPr lang="pt-BR" dirty="0"/>
              <a:t>+ 1, e a outra é calculada por alguma regra a partir da </a:t>
            </a:r>
            <a:r>
              <a:rPr lang="pt-BR" dirty="0" smtClean="0"/>
              <a:t>primeira</a:t>
            </a:r>
            <a:r>
              <a:rPr lang="pt-BR" dirty="0"/>
              <a:t>. </a:t>
            </a:r>
          </a:p>
          <a:p>
            <a:r>
              <a:rPr lang="pt-BR" dirty="0" smtClean="0"/>
              <a:t>Exemplo: P1 (6,9) e P2 (11,12)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tângulo 3"/>
              <p:cNvSpPr/>
              <p:nvPr/>
            </p:nvSpPr>
            <p:spPr>
              <a:xfrm>
                <a:off x="4211960" y="3140968"/>
                <a:ext cx="2088232" cy="7862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/>
                        </a:rPr>
                        <m:t>𝑚</m:t>
                      </m:r>
                      <m:r>
                        <a:rPr lang="pt-BR" sz="2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 smtClean="0">
                              <a:latin typeface="Cambria Math"/>
                            </a:rPr>
                            <m:t>2</m:t>
                          </m:r>
                          <m:r>
                            <a:rPr lang="pt-BR" sz="2400" i="1">
                              <a:latin typeface="Cambria Math"/>
                            </a:rPr>
                            <m:t>−</m:t>
                          </m:r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2−</m:t>
                          </m:r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4" name="Retâ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3140968"/>
                <a:ext cx="2088232" cy="786241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6516216" y="3315798"/>
                <a:ext cx="2376264" cy="461665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/>
                        </a:rPr>
                        <m:t>𝑏</m:t>
                      </m:r>
                      <m:r>
                        <a:rPr lang="pt-BR" sz="2400" b="0" i="1" smtClean="0">
                          <a:latin typeface="Cambria Math"/>
                        </a:rPr>
                        <m:t>=</m:t>
                      </m:r>
                      <m:r>
                        <a:rPr lang="pt-BR" sz="2400" b="0" i="1" smtClean="0">
                          <a:latin typeface="Cambria Math"/>
                        </a:rPr>
                        <m:t>𝑦</m:t>
                      </m:r>
                      <m:r>
                        <a:rPr lang="pt-BR" sz="2400" b="0" i="1" smtClean="0">
                          <a:latin typeface="Cambria Math"/>
                        </a:rPr>
                        <m:t>1 −</m:t>
                      </m:r>
                      <m:r>
                        <a:rPr lang="pt-BR" sz="2400" b="0" i="1" smtClean="0">
                          <a:latin typeface="Cambria Math"/>
                        </a:rPr>
                        <m:t>𝑚𝑥</m:t>
                      </m:r>
                      <m:r>
                        <a:rPr lang="pt-BR" sz="2400" b="0" i="1" smtClean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216" y="3315798"/>
                <a:ext cx="2376264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41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072797"/>
              </p:ext>
            </p:extLst>
          </p:nvPr>
        </p:nvGraphicFramePr>
        <p:xfrm>
          <a:off x="323528" y="4664589"/>
          <a:ext cx="1219200" cy="628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/>
                <a:gridCol w="609600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m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0,6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b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5,4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177152"/>
              </p:ext>
            </p:extLst>
          </p:nvPr>
        </p:nvGraphicFramePr>
        <p:xfrm>
          <a:off x="1907704" y="3927209"/>
          <a:ext cx="1728192" cy="24221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96"/>
                <a:gridCol w="864096"/>
              </a:tblGrid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x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y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6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9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7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9,6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8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10,2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9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10,8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10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11,4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346021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>
                          <a:effectLst/>
                        </a:rPr>
                        <a:t>11</a:t>
                      </a:r>
                      <a:endParaRPr lang="pt-BR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u="none" strike="noStrike" dirty="0">
                          <a:effectLst/>
                        </a:rPr>
                        <a:t>12</a:t>
                      </a:r>
                      <a:endParaRPr lang="pt-BR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006" y="4070326"/>
            <a:ext cx="3780420" cy="2445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088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Retas - Algoritmo DDA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4" y="1723191"/>
            <a:ext cx="9099393" cy="4514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tângulo 3"/>
          <p:cNvSpPr/>
          <p:nvPr/>
        </p:nvSpPr>
        <p:spPr>
          <a:xfrm>
            <a:off x="2411760" y="6448539"/>
            <a:ext cx="6693865" cy="364837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pt-BR" dirty="0"/>
              <a:t>http://www.dca.fee.unicamp.br/courses/IA725/1s2006/notes/n4.pdf</a:t>
            </a:r>
          </a:p>
        </p:txBody>
      </p:sp>
    </p:spTree>
    <p:extLst>
      <p:ext uri="{BB962C8B-B14F-4D97-AF65-F5344CB8AC3E}">
        <p14:creationId xmlns:p14="http://schemas.microsoft.com/office/powerpoint/2010/main" val="2334043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</a:t>
            </a:r>
            <a:r>
              <a:rPr lang="pt-BR" dirty="0" smtClean="0"/>
              <a:t>Retas </a:t>
            </a:r>
            <a:r>
              <a:rPr lang="pt-BR" dirty="0"/>
              <a:t>- Algoritmo DDA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</a:t>
            </a:r>
            <a:r>
              <a:rPr lang="pt-BR" dirty="0" smtClean="0"/>
              <a:t>DDA cria boas retas</a:t>
            </a:r>
            <a:r>
              <a:rPr lang="pt-BR" dirty="0"/>
              <a:t>, </a:t>
            </a:r>
            <a:r>
              <a:rPr lang="pt-BR" dirty="0" smtClean="0"/>
              <a:t>mas consome muito tempo devido </a:t>
            </a:r>
            <a:r>
              <a:rPr lang="pt-BR" dirty="0"/>
              <a:t>as funções de arredondamento. </a:t>
            </a:r>
          </a:p>
          <a:p>
            <a:r>
              <a:rPr lang="pt-BR" dirty="0" smtClean="0"/>
              <a:t>Outra </a:t>
            </a:r>
            <a:r>
              <a:rPr lang="pt-BR" dirty="0"/>
              <a:t>desvantagem </a:t>
            </a:r>
            <a:r>
              <a:rPr lang="pt-BR" dirty="0" smtClean="0"/>
              <a:t>é que o passo em x é igual a 1 (</a:t>
            </a:r>
            <a:r>
              <a:rPr lang="pt-BR" dirty="0"/>
              <a:t>não existe fração do pixel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 smtClean="0"/>
              <a:t>Há outros comportamentos indesejados para ângulos próximos a </a:t>
            </a:r>
            <a:r>
              <a:rPr lang="pt-BR" dirty="0"/>
              <a:t>0</a:t>
            </a:r>
            <a:r>
              <a:rPr lang="pt-BR" dirty="0" smtClean="0"/>
              <a:t>° </a:t>
            </a:r>
            <a:r>
              <a:rPr lang="pt-BR" dirty="0"/>
              <a:t>e </a:t>
            </a:r>
            <a:r>
              <a:rPr lang="pt-BR" dirty="0" smtClean="0"/>
              <a:t>90</a:t>
            </a:r>
            <a:r>
              <a:rPr lang="pt-BR" dirty="0"/>
              <a:t>°, </a:t>
            </a:r>
            <a:r>
              <a:rPr lang="pt-BR" dirty="0" smtClean="0"/>
              <a:t>com a reta quase horizontal ou quase </a:t>
            </a:r>
            <a:r>
              <a:rPr lang="pt-BR" dirty="0"/>
              <a:t>vertical</a:t>
            </a:r>
            <a:r>
              <a:rPr lang="pt-BR" dirty="0" smtClean="0"/>
              <a:t>.</a:t>
            </a:r>
            <a:endParaRPr lang="pt-BR" dirty="0"/>
          </a:p>
          <a:p>
            <a:r>
              <a:rPr lang="pt-BR" dirty="0" smtClean="0"/>
              <a:t>Como o coeficiente m não é necessariamente um número inteiro</a:t>
            </a:r>
            <a:r>
              <a:rPr lang="pt-BR" dirty="0"/>
              <a:t>, </a:t>
            </a:r>
            <a:r>
              <a:rPr lang="pt-BR" dirty="0" smtClean="0"/>
              <a:t>obriga o hardware a trabalhar com números </a:t>
            </a:r>
            <a:r>
              <a:rPr lang="pt-BR" dirty="0"/>
              <a:t>flutuantes, consumindo tempo </a:t>
            </a:r>
            <a:r>
              <a:rPr lang="pt-BR" dirty="0" smtClean="0"/>
              <a:t>de execução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1674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Linhas Retas - Algoritmo de </a:t>
            </a:r>
            <a:r>
              <a:rPr lang="pt-BR" dirty="0" err="1" smtClean="0"/>
              <a:t>Bresenham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 smtClean="0"/>
              <a:t>Ou </a:t>
            </a:r>
            <a:r>
              <a:rPr lang="pt-BR" sz="2400" b="1" dirty="0" smtClean="0"/>
              <a:t>algoritmo </a:t>
            </a:r>
            <a:r>
              <a:rPr lang="pt-BR" sz="2400" b="1" dirty="0"/>
              <a:t>do Ponto </a:t>
            </a:r>
            <a:r>
              <a:rPr lang="pt-BR" sz="2400" b="1" dirty="0" smtClean="0"/>
              <a:t>Médio</a:t>
            </a:r>
            <a:r>
              <a:rPr lang="pt-BR" sz="2400" dirty="0" smtClean="0"/>
              <a:t>, baseia-se </a:t>
            </a:r>
            <a:r>
              <a:rPr lang="pt-BR" sz="2400" dirty="0"/>
              <a:t>no argumento </a:t>
            </a:r>
            <a:r>
              <a:rPr lang="pt-BR" sz="2400" dirty="0" smtClean="0"/>
              <a:t>de </a:t>
            </a:r>
            <a:r>
              <a:rPr lang="pt-BR" sz="2400" dirty="0"/>
              <a:t>que um segmento de reta, ao ser plotado, deve ser </a:t>
            </a:r>
            <a:r>
              <a:rPr lang="pt-BR" sz="2400" dirty="0" smtClean="0"/>
              <a:t>contínuo</a:t>
            </a:r>
            <a:r>
              <a:rPr lang="pt-BR" sz="2400" dirty="0"/>
              <a:t>,  ou  </a:t>
            </a:r>
            <a:r>
              <a:rPr lang="pt-BR" sz="2400" dirty="0" smtClean="0"/>
              <a:t>seja,  </a:t>
            </a:r>
            <a:r>
              <a:rPr lang="pt-BR" sz="2400" dirty="0"/>
              <a:t>os  pixels  que  </a:t>
            </a:r>
            <a:r>
              <a:rPr lang="pt-BR" sz="2400" dirty="0" smtClean="0"/>
              <a:t>o compõem devem </a:t>
            </a:r>
            <a:r>
              <a:rPr lang="pt-BR" sz="2400" dirty="0"/>
              <a:t>ser vizinhos. </a:t>
            </a:r>
            <a:endParaRPr lang="pt-BR" sz="2400" dirty="0" smtClean="0"/>
          </a:p>
          <a:p>
            <a:r>
              <a:rPr lang="pt-BR" sz="2400" dirty="0" smtClean="0"/>
              <a:t>Consiste </a:t>
            </a:r>
            <a:r>
              <a:rPr lang="pt-BR" sz="2400" dirty="0"/>
              <a:t>em sempre </a:t>
            </a:r>
            <a:r>
              <a:rPr lang="pt-BR" sz="2400" dirty="0" smtClean="0"/>
              <a:t>incrementar uma </a:t>
            </a:r>
            <a:r>
              <a:rPr lang="pt-BR" sz="2400" dirty="0"/>
              <a:t>unidade a coordenada </a:t>
            </a:r>
            <a:r>
              <a:rPr lang="pt-BR" sz="2400" b="1" i="1" dirty="0" smtClean="0"/>
              <a:t>x</a:t>
            </a:r>
            <a:r>
              <a:rPr lang="pt-BR" sz="2400" dirty="0" smtClean="0"/>
              <a:t>, enquanto </a:t>
            </a:r>
            <a:r>
              <a:rPr lang="pt-BR" sz="2400" dirty="0"/>
              <a:t>o incremento da variável </a:t>
            </a:r>
            <a:r>
              <a:rPr lang="pt-BR" sz="2400" b="1" i="1" dirty="0" smtClean="0"/>
              <a:t>y</a:t>
            </a:r>
            <a:r>
              <a:rPr lang="pt-BR" sz="2400" dirty="0" smtClean="0"/>
              <a:t>, é determinado </a:t>
            </a:r>
            <a:r>
              <a:rPr lang="pt-BR" sz="2400" dirty="0"/>
              <a:t>examinando-se a </a:t>
            </a:r>
            <a:r>
              <a:rPr lang="pt-BR" sz="2400" dirty="0" smtClean="0"/>
              <a:t>distância entre </a:t>
            </a:r>
            <a:r>
              <a:rPr lang="pt-BR" sz="2400" dirty="0"/>
              <a:t>a posição da reta real e a </a:t>
            </a:r>
            <a:r>
              <a:rPr lang="pt-BR" sz="2400" dirty="0" smtClean="0"/>
              <a:t>posição associada </a:t>
            </a:r>
            <a:r>
              <a:rPr lang="pt-BR" sz="2400" dirty="0"/>
              <a:t>ao meio do pixel </a:t>
            </a:r>
            <a:r>
              <a:rPr lang="pt-BR" sz="2400" dirty="0" smtClean="0"/>
              <a:t>mais próximo</a:t>
            </a:r>
            <a:r>
              <a:rPr lang="pt-BR" sz="2400" dirty="0"/>
              <a:t>. </a:t>
            </a:r>
            <a:endParaRPr lang="pt-BR" sz="2400" dirty="0" smtClean="0"/>
          </a:p>
          <a:p>
            <a:r>
              <a:rPr lang="pt-BR" sz="2400" dirty="0" smtClean="0"/>
              <a:t>Esta </a:t>
            </a:r>
            <a:r>
              <a:rPr lang="pt-BR" sz="2400" dirty="0"/>
              <a:t>distância é </a:t>
            </a:r>
            <a:r>
              <a:rPr lang="pt-BR" sz="2400" dirty="0" smtClean="0"/>
              <a:t>denominada por erro.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4714622"/>
            <a:ext cx="2957535" cy="211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0" y="6444044"/>
            <a:ext cx="6156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monoceros.mcca.ep.usp.br/CGL/disciplinas/apostila2520a1.pdf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828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Linhas Retas</a:t>
            </a:r>
            <a:r>
              <a:rPr lang="pt-BR" dirty="0"/>
              <a:t> - Algoritmo de </a:t>
            </a:r>
            <a:r>
              <a:rPr lang="pt-BR" dirty="0" err="1"/>
              <a:t>Bresenham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Supondo que P1 (0,0) e P2 (12, 5), logo,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/>
                      </a:rPr>
                      <m:t>m</m:t>
                    </m:r>
                    <m:r>
                      <a:rPr lang="pt-BR" b="0" i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𝑦</m:t>
                        </m:r>
                      </m:num>
                      <m:den>
                        <m:r>
                          <a:rPr lang="pt-BR" i="1" smtClean="0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den>
                    </m:f>
                    <m:r>
                      <a:rPr lang="pt-BR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pt-BR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/>
                          </a:rPr>
                          <m:t>5</m:t>
                        </m:r>
                      </m:num>
                      <m:den>
                        <m:r>
                          <a:rPr lang="pt-BR" b="0" i="1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r>
                  <a:rPr lang="pt-BR" dirty="0" smtClean="0"/>
                  <a:t> 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Inicia-se </a:t>
                </a:r>
                <a:r>
                  <a:rPr lang="pt-BR" b="1" dirty="0" smtClean="0"/>
                  <a:t>x = P1</a:t>
                </a:r>
                <a:r>
                  <a:rPr lang="pt-BR" b="1" baseline="-25000" dirty="0" smtClean="0"/>
                  <a:t>x</a:t>
                </a:r>
                <a:r>
                  <a:rPr lang="pt-BR" dirty="0" smtClean="0"/>
                  <a:t> e </a:t>
                </a:r>
                <a:r>
                  <a:rPr lang="pt-BR" b="1" dirty="0" smtClean="0"/>
                  <a:t>y = P1</a:t>
                </a:r>
                <a:r>
                  <a:rPr lang="pt-BR" b="1" baseline="-25000" dirty="0" smtClean="0"/>
                  <a:t>y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Calcula-se o </a:t>
                </a:r>
                <a14:m>
                  <m:oMath xmlns:m="http://schemas.openxmlformats.org/officeDocument/2006/math">
                    <m:r>
                      <a:rPr lang="pt-BR" b="1" i="1" dirty="0" smtClean="0">
                        <a:latin typeface="Cambria Math"/>
                      </a:rPr>
                      <m:t>𝒆</m:t>
                    </m:r>
                    <m:r>
                      <a:rPr lang="pt-BR" b="1" i="1" dirty="0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pt-BR" b="1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𝒚</m:t>
                        </m:r>
                      </m:num>
                      <m:den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𝒙</m:t>
                        </m:r>
                      </m:den>
                    </m:f>
                    <m:r>
                      <a:rPr lang="pt-BR" b="1" i="1" smtClean="0">
                        <a:latin typeface="Cambria Math"/>
                        <a:ea typeface="Cambria Math"/>
                      </a:rPr>
                      <m:t> −</m:t>
                    </m:r>
                    <m:r>
                      <a:rPr lang="pt-BR" b="1" i="1" smtClean="0">
                        <a:latin typeface="Cambria Math"/>
                        <a:ea typeface="Cambria Math"/>
                      </a:rPr>
                      <m:t>𝟎</m:t>
                    </m:r>
                    <m:r>
                      <a:rPr lang="pt-BR" b="1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pt-BR" b="1" i="1" smtClean="0">
                        <a:latin typeface="Cambria Math"/>
                        <a:ea typeface="Cambria Math"/>
                      </a:rPr>
                      <m:t>𝟓</m:t>
                    </m:r>
                  </m:oMath>
                </a14:m>
                <a:endParaRPr lang="pt-BR" b="1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Avança </a:t>
                </a:r>
                <a:r>
                  <a:rPr lang="pt-BR" b="1" dirty="0" smtClean="0"/>
                  <a:t>x</a:t>
                </a:r>
                <a:r>
                  <a:rPr lang="pt-BR" dirty="0" smtClean="0"/>
                  <a:t> em 1 e Se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/>
                      </a:rPr>
                      <m:t>𝒆</m:t>
                    </m:r>
                  </m:oMath>
                </a14:m>
                <a:r>
                  <a:rPr lang="pt-BR" b="1" dirty="0" smtClean="0"/>
                  <a:t> </a:t>
                </a:r>
                <a:r>
                  <a:rPr lang="pt-BR" b="1" dirty="0"/>
                  <a:t>&lt;</a:t>
                </a:r>
                <a:r>
                  <a:rPr lang="pt-BR" b="1" dirty="0" smtClean="0"/>
                  <a:t> 0</a:t>
                </a:r>
                <a:r>
                  <a:rPr lang="pt-BR" dirty="0" smtClean="0"/>
                  <a:t> </a:t>
                </a:r>
                <a:r>
                  <a:rPr lang="pt-BR" dirty="0" smtClean="0">
                    <a:sym typeface="Wingdings" pitchFamily="2" charset="2"/>
                  </a:rPr>
                  <a:t> </a:t>
                </a:r>
                <a:r>
                  <a:rPr lang="pt-BR" b="1" dirty="0" smtClean="0"/>
                  <a:t>y</a:t>
                </a:r>
                <a:r>
                  <a:rPr lang="pt-BR" dirty="0" smtClean="0"/>
                  <a:t> não é incrementado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Se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/>
                      </a:rPr>
                      <m:t>𝒆</m:t>
                    </m:r>
                  </m:oMath>
                </a14:m>
                <a:r>
                  <a:rPr lang="pt-BR" b="1" dirty="0"/>
                  <a:t> </a:t>
                </a:r>
                <a:r>
                  <a:rPr lang="pt-BR" b="1" dirty="0" smtClean="0"/>
                  <a:t>&gt; </a:t>
                </a:r>
                <a:r>
                  <a:rPr lang="pt-BR" b="1" dirty="0"/>
                  <a:t>0</a:t>
                </a:r>
                <a:r>
                  <a:rPr lang="pt-BR" dirty="0"/>
                  <a:t> </a:t>
                </a:r>
                <a:r>
                  <a:rPr lang="pt-BR" dirty="0" smtClean="0">
                    <a:sym typeface="Wingdings" pitchFamily="2" charset="2"/>
                  </a:rPr>
                  <a:t> incrementa </a:t>
                </a:r>
                <a:r>
                  <a:rPr lang="pt-BR" b="1" dirty="0" smtClean="0">
                    <a:sym typeface="Wingdings" pitchFamily="2" charset="2"/>
                  </a:rPr>
                  <a:t>y</a:t>
                </a:r>
                <a:r>
                  <a:rPr lang="pt-BR" dirty="0" smtClean="0">
                    <a:sym typeface="Wingdings" pitchFamily="2" charset="2"/>
                  </a:rPr>
                  <a:t> e decrementa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/>
                      </a:rPr>
                      <m:t>𝒆</m:t>
                    </m:r>
                  </m:oMath>
                </a14:m>
                <a:r>
                  <a:rPr lang="pt-BR" dirty="0" smtClean="0">
                    <a:sym typeface="Wingdings" pitchFamily="2" charset="2"/>
                  </a:rPr>
                  <a:t> em 1</a:t>
                </a:r>
                <a:endParaRPr lang="pt-BR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Incrementa-se o </a:t>
                </a:r>
                <a14:m>
                  <m:oMath xmlns:m="http://schemas.openxmlformats.org/officeDocument/2006/math">
                    <m:r>
                      <a:rPr lang="pt-BR" b="1" i="1" dirty="0">
                        <a:latin typeface="Cambria Math"/>
                      </a:rPr>
                      <m:t>𝒆</m:t>
                    </m:r>
                    <m:r>
                      <a:rPr lang="pt-BR" b="1" i="1" dirty="0">
                        <a:latin typeface="Cambria Math"/>
                      </a:rPr>
                      <m:t>=</m:t>
                    </m:r>
                    <m:r>
                      <a:rPr lang="pt-BR" b="1" i="1" dirty="0">
                        <a:latin typeface="Cambria Math"/>
                      </a:rPr>
                      <m:t>𝒆</m:t>
                    </m:r>
                    <m:r>
                      <a:rPr lang="pt-BR" b="1" i="1" dirty="0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pt-BR" b="1" i="1">
                            <a:latin typeface="Cambria Math"/>
                          </a:rPr>
                        </m:ctrlPr>
                      </m:fPr>
                      <m:num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𝒚</m:t>
                        </m:r>
                      </m:num>
                      <m:den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∆</m:t>
                        </m:r>
                        <m:r>
                          <a:rPr lang="pt-BR" b="1" i="1">
                            <a:latin typeface="Cambria Math"/>
                            <a:ea typeface="Cambria Math"/>
                          </a:rPr>
                          <m:t>𝒙</m:t>
                        </m:r>
                      </m:den>
                    </m:f>
                  </m:oMath>
                </a14:m>
                <a:endParaRPr lang="pt-BR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pt-BR" dirty="0" smtClean="0"/>
                  <a:t>Volta-se ao passo 3 até atingir P2</a:t>
                </a:r>
                <a:r>
                  <a:rPr lang="pt-BR" baseline="-25000" dirty="0" smtClean="0"/>
                  <a:t>x</a:t>
                </a:r>
                <a:endParaRPr lang="pt-BR" baseline="-25000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/>
              <p:cNvSpPr/>
              <p:nvPr/>
            </p:nvSpPr>
            <p:spPr>
              <a:xfrm>
                <a:off x="6768480" y="2708920"/>
                <a:ext cx="2088232" cy="78624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/>
                        </a:rPr>
                        <m:t>𝑚</m:t>
                      </m:r>
                      <m:r>
                        <a:rPr lang="pt-BR" sz="240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 smtClean="0">
                              <a:latin typeface="Cambria Math"/>
                            </a:rPr>
                            <m:t>2</m:t>
                          </m:r>
                          <m:r>
                            <a:rPr lang="pt-BR" sz="2400" i="1">
                              <a:latin typeface="Cambria Math"/>
                            </a:rPr>
                            <m:t>−</m:t>
                          </m:r>
                          <m:r>
                            <a:rPr lang="pt-BR" sz="2400" i="1">
                              <a:latin typeface="Cambria Math"/>
                            </a:rPr>
                            <m:t>𝑦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2−</m:t>
                          </m:r>
                          <m:r>
                            <a:rPr lang="pt-BR" sz="2400" i="1">
                              <a:latin typeface="Cambria Math"/>
                            </a:rPr>
                            <m:t>𝑥</m:t>
                          </m:r>
                          <m:r>
                            <a:rPr lang="pt-BR" sz="2400" i="1">
                              <a:latin typeface="Cambria Math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Retâ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8480" y="2708920"/>
                <a:ext cx="2088232" cy="7862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4450076"/>
            <a:ext cx="4680993" cy="236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454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Retas - Algoritmo de </a:t>
            </a:r>
            <a:r>
              <a:rPr lang="pt-BR" dirty="0" err="1"/>
              <a:t>Bresenham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Otimização</a:t>
            </a:r>
            <a:endParaRPr lang="pt-B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11045"/>
            <a:ext cx="7848872" cy="3973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0211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Linhas Retas - Algoritmo de </a:t>
            </a:r>
            <a:r>
              <a:rPr lang="pt-BR" dirty="0" err="1"/>
              <a:t>Bresenham</a:t>
            </a:r>
            <a:endParaRPr lang="pt-BR" dirty="0"/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772816"/>
            <a:ext cx="6084169" cy="379471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9" y="3852647"/>
            <a:ext cx="3059832" cy="300535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321883" y="6474822"/>
            <a:ext cx="5330237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pt-BR" sz="1600" dirty="0" smtClean="0"/>
              <a:t>www.dca.fee.unicamp.br/courses/IA725/1s2006/notes/n4.pdf</a:t>
            </a:r>
            <a:endParaRPr lang="pt-BR" sz="16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6104983" y="2103316"/>
            <a:ext cx="30390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pt-BR" sz="2400" dirty="0" smtClean="0"/>
              <a:t>Algoritmo Inteiro</a:t>
            </a:r>
            <a:endParaRPr lang="pt-BR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pt-BR" sz="2400" dirty="0" smtClean="0"/>
              <a:t>Outros valem só 1º </a:t>
            </a:r>
            <a:r>
              <a:rPr lang="pt-BR" sz="2400" dirty="0" err="1" smtClean="0"/>
              <a:t>octante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06280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Circunferências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Circunferências tem uma característica interessante que é a simetria </a:t>
            </a:r>
            <a:r>
              <a:rPr lang="pt-BR" dirty="0"/>
              <a:t>em relação aos eixos de centro. </a:t>
            </a:r>
            <a:r>
              <a:rPr lang="pt-BR" dirty="0" smtClean="0"/>
              <a:t>O que implica que </a:t>
            </a:r>
            <a:r>
              <a:rPr lang="pt-BR" dirty="0"/>
              <a:t>basta traçar um quarto da circunferência e </a:t>
            </a:r>
            <a:r>
              <a:rPr lang="pt-BR" dirty="0" smtClean="0"/>
              <a:t>gerar as </a:t>
            </a:r>
            <a:r>
              <a:rPr lang="pt-BR" dirty="0"/>
              <a:t>outras partes através de simples reflexões para obter-se </a:t>
            </a:r>
            <a:r>
              <a:rPr lang="pt-BR" dirty="0" smtClean="0"/>
              <a:t>seu </a:t>
            </a:r>
            <a:r>
              <a:rPr lang="pt-BR" dirty="0" err="1" smtClean="0"/>
              <a:t>traçamento</a:t>
            </a:r>
            <a:r>
              <a:rPr lang="pt-BR" dirty="0" smtClean="0"/>
              <a:t> completo.</a:t>
            </a:r>
          </a:p>
          <a:p>
            <a:r>
              <a:rPr lang="pt-BR" dirty="0"/>
              <a:t>Dessa </a:t>
            </a:r>
            <a:r>
              <a:rPr lang="pt-BR" dirty="0" smtClean="0"/>
              <a:t>forma, considerando </a:t>
            </a:r>
            <a:r>
              <a:rPr lang="pt-BR" dirty="0"/>
              <a:t>o primeiro quadrante, pode-se dividi-lo em dois </a:t>
            </a:r>
            <a:r>
              <a:rPr lang="pt-BR" dirty="0" err="1"/>
              <a:t>octantes</a:t>
            </a:r>
            <a:r>
              <a:rPr lang="pt-BR" dirty="0"/>
              <a:t> simétricos. Logo, </a:t>
            </a:r>
            <a:r>
              <a:rPr lang="pt-BR" dirty="0" smtClean="0"/>
              <a:t>basta gerar um oitavo  da circunferência para conseguir todas as coordenadas dos pontos da circunferência </a:t>
            </a:r>
            <a:r>
              <a:rPr lang="pt-BR" dirty="0"/>
              <a:t>completa.  </a:t>
            </a:r>
            <a:endParaRPr lang="pt-BR" dirty="0" smtClean="0"/>
          </a:p>
          <a:p>
            <a:r>
              <a:rPr lang="pt-BR" dirty="0" smtClean="0"/>
              <a:t>As reflexões necessárias:</a:t>
            </a:r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6814" y="4365104"/>
            <a:ext cx="3818408" cy="240982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tângulo 4"/>
          <p:cNvSpPr/>
          <p:nvPr/>
        </p:nvSpPr>
        <p:spPr>
          <a:xfrm>
            <a:off x="35496" y="6481706"/>
            <a:ext cx="6085332" cy="33167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pt-BR" dirty="0"/>
              <a:t>monoceros.mcca.ep.usp.br/CGL/disciplinas/apostila2520a1.pdf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0251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Circunferências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 smtClean="0"/>
                  <a:t>Para criar uma circunferência de raio </a:t>
                </a:r>
                <a:r>
                  <a:rPr lang="pt-BR" i="1" dirty="0" smtClean="0"/>
                  <a:t>r</a:t>
                </a:r>
                <a:r>
                  <a:rPr lang="pt-BR" dirty="0" smtClean="0"/>
                  <a:t> e centro </a:t>
                </a:r>
                <a:r>
                  <a:rPr lang="pt-BR" i="1" dirty="0" smtClean="0"/>
                  <a:t>P(</a:t>
                </a:r>
                <a:r>
                  <a:rPr lang="pt-BR" i="1" dirty="0" err="1"/>
                  <a:t>x</a:t>
                </a:r>
                <a:r>
                  <a:rPr lang="pt-BR" i="1" baseline="-25000" dirty="0" err="1" smtClean="0"/>
                  <a:t>c</a:t>
                </a:r>
                <a:r>
                  <a:rPr lang="pt-BR" i="1" dirty="0" smtClean="0"/>
                  <a:t>, </a:t>
                </a:r>
                <a:r>
                  <a:rPr lang="pt-BR" i="1" dirty="0" err="1"/>
                  <a:t>y</a:t>
                </a:r>
                <a:r>
                  <a:rPr lang="pt-BR" i="1" baseline="-25000" dirty="0" err="1" smtClean="0"/>
                  <a:t>c</a:t>
                </a:r>
                <a:r>
                  <a:rPr lang="pt-BR" i="1" dirty="0" smtClean="0"/>
                  <a:t>)</a:t>
                </a:r>
                <a:r>
                  <a:rPr lang="pt-BR" dirty="0" smtClean="0"/>
                  <a:t>, para o 1º </a:t>
                </a:r>
                <a:r>
                  <a:rPr lang="pt-BR" dirty="0" err="1" smtClean="0"/>
                  <a:t>octante</a:t>
                </a:r>
                <a:r>
                  <a:rPr lang="pt-BR" dirty="0" smtClean="0"/>
                  <a:t>, x deve variar de 0 a y, para os outros </a:t>
                </a:r>
                <a:r>
                  <a:rPr lang="pt-BR" dirty="0" err="1" smtClean="0"/>
                  <a:t>octantes</a:t>
                </a:r>
                <a:r>
                  <a:rPr lang="pt-BR" dirty="0" smtClean="0"/>
                  <a:t> usa-se a simetria.</a:t>
                </a:r>
              </a:p>
              <a:p>
                <a:r>
                  <a:rPr lang="pt-BR" dirty="0" smtClean="0"/>
                  <a:t>Dada a função </a:t>
                </a:r>
                <a:r>
                  <a:rPr lang="pt-BR" b="1" i="1" dirty="0" err="1" smtClean="0"/>
                  <a:t>f</a:t>
                </a:r>
                <a:r>
                  <a:rPr lang="pt-BR" b="1" i="1" baseline="-25000" dirty="0" err="1" smtClean="0"/>
                  <a:t>circ</a:t>
                </a:r>
                <a:r>
                  <a:rPr lang="pt-BR" dirty="0" smtClean="0"/>
                  <a:t>, cada ponto (</a:t>
                </a:r>
                <a:r>
                  <a:rPr lang="pt-BR" dirty="0" err="1" smtClean="0"/>
                  <a:t>x,y</a:t>
                </a:r>
                <a:r>
                  <a:rPr lang="pt-BR" dirty="0" smtClean="0"/>
                  <a:t>) no contorno da circunferência com raio r satisfaz a equação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</a:rPr>
                          <m:t>𝑐𝑖𝑟𝑐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/>
                          </a:rPr>
                          <m:t>𝑥</m:t>
                        </m:r>
                        <m:r>
                          <a:rPr lang="pt-BR" b="0" i="1" smtClean="0">
                            <a:latin typeface="Cambria Math"/>
                          </a:rPr>
                          <m:t>,</m:t>
                        </m:r>
                        <m:r>
                          <a:rPr lang="pt-BR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pt-BR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pt-BR" dirty="0" smtClean="0"/>
                  <a:t>, se o ponto estiver dentro da circunferência este resultado é negativo e fora será positivo.</a:t>
                </a:r>
              </a:p>
              <a:p>
                <a:r>
                  <a:rPr lang="pt-BR" dirty="0" smtClean="0"/>
                  <a:t>Ex. dado um ponto (</a:t>
                </a:r>
                <a:r>
                  <a:rPr lang="pt-BR" dirty="0" err="1" smtClean="0"/>
                  <a:t>x,y</a:t>
                </a:r>
                <a:r>
                  <a:rPr lang="pt-BR" dirty="0" smtClean="0"/>
                  <a:t>), incrementa-se o x, e tem-se 2 candidatos, P(x+1, y) e P(x+1, y-1). O parâmetro de decisão é a função de circunferência.</a:t>
                </a:r>
                <a:endParaRPr lang="pt-BR" dirty="0"/>
              </a:p>
            </p:txBody>
          </p:sp>
        </mc:Choice>
        <mc:Fallback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735" r="-2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/>
              <p:cNvSpPr txBox="1"/>
              <p:nvPr/>
            </p:nvSpPr>
            <p:spPr>
              <a:xfrm>
                <a:off x="4788024" y="764704"/>
                <a:ext cx="3816424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/>
                            </a:rPr>
                            <m:t>𝑐𝑖𝑟𝑐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pt-BR" sz="24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pt-BR" sz="2400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pt-BR" sz="2400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4" name="CaixaDeTexto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764704"/>
                <a:ext cx="3816424" cy="461665"/>
              </a:xfrm>
              <a:prstGeom prst="rect">
                <a:avLst/>
              </a:prstGeom>
              <a:blipFill rotWithShape="1">
                <a:blip r:embed="rId3"/>
                <a:stretch>
                  <a:fillRect b="-1538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437112"/>
            <a:ext cx="3828191" cy="23387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5761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Circunferências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44824"/>
            <a:ext cx="5989830" cy="48245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91224"/>
            <a:ext cx="2978677" cy="18798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8474" y="3173158"/>
            <a:ext cx="2394080" cy="216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550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Interativo Básico em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Display File simples para 2D</a:t>
            </a:r>
          </a:p>
          <a:p>
            <a:pPr lvl="1"/>
            <a:r>
              <a:rPr lang="pt-BR" dirty="0"/>
              <a:t>Pontos</a:t>
            </a:r>
          </a:p>
          <a:p>
            <a:pPr lvl="1"/>
            <a:r>
              <a:rPr lang="pt-BR" dirty="0"/>
              <a:t>Retas</a:t>
            </a:r>
          </a:p>
          <a:p>
            <a:r>
              <a:rPr lang="pt-BR" dirty="0"/>
              <a:t>Sistema de Coordenadas do Mundo e </a:t>
            </a:r>
            <a:r>
              <a:rPr lang="pt-BR" dirty="0" err="1"/>
              <a:t>Viewport</a:t>
            </a:r>
            <a:r>
              <a:rPr lang="pt-BR" dirty="0"/>
              <a:t> em 2D</a:t>
            </a:r>
          </a:p>
          <a:p>
            <a:r>
              <a:rPr lang="pt-BR" dirty="0"/>
              <a:t>Transformação de </a:t>
            </a:r>
            <a:r>
              <a:rPr lang="pt-BR" dirty="0" err="1"/>
              <a:t>Viewport</a:t>
            </a:r>
            <a:r>
              <a:rPr lang="pt-BR" dirty="0"/>
              <a:t> em 2D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9262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Transformações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Tanto na representação bidimensional de um mundo como na representação 3- ou n-dimensional, existem em computação gráfica 3 transformações geométricas primitivas, que podem ser combinadas para se obter o comportamento de um objeto no mundo em que está modelado</a:t>
            </a:r>
            <a:r>
              <a:rPr lang="pt-BR" dirty="0" smtClean="0"/>
              <a:t>:</a:t>
            </a:r>
          </a:p>
          <a:p>
            <a:pPr lvl="1"/>
            <a:r>
              <a:rPr lang="pt-BR" b="1" dirty="0" smtClean="0"/>
              <a:t>Translação</a:t>
            </a:r>
          </a:p>
          <a:p>
            <a:pPr lvl="1"/>
            <a:r>
              <a:rPr lang="pt-BR" b="1" dirty="0" smtClean="0"/>
              <a:t>Escalonamento </a:t>
            </a:r>
            <a:r>
              <a:rPr lang="pt-BR" dirty="0" smtClean="0"/>
              <a:t> </a:t>
            </a:r>
          </a:p>
          <a:p>
            <a:pPr lvl="1"/>
            <a:r>
              <a:rPr lang="pt-BR" b="1" dirty="0" smtClean="0"/>
              <a:t>Rotação </a:t>
            </a:r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0867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Translação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Pontos no Plano </a:t>
            </a:r>
            <a:r>
              <a:rPr lang="pt-BR" sz="2400" b="1" i="1" dirty="0" err="1"/>
              <a:t>xy</a:t>
            </a:r>
            <a:r>
              <a:rPr lang="pt-BR" sz="2400" dirty="0"/>
              <a:t> podem ser transladados a novas posições através da </a:t>
            </a:r>
            <a:r>
              <a:rPr lang="pt-BR" sz="2400" dirty="0" smtClean="0"/>
              <a:t>adição/subtração </a:t>
            </a:r>
            <a:r>
              <a:rPr lang="pt-BR" sz="2400" dirty="0"/>
              <a:t>de quantidades de translação às coordenadas de todos os seus pontos.</a:t>
            </a:r>
          </a:p>
          <a:p>
            <a:r>
              <a:rPr lang="pt-BR" sz="2400" dirty="0"/>
              <a:t>Para mover um ponto </a:t>
            </a:r>
            <a:r>
              <a:rPr lang="pt-BR" sz="2400" b="1" dirty="0"/>
              <a:t>P(</a:t>
            </a:r>
            <a:r>
              <a:rPr lang="pt-BR" sz="2400" b="1" dirty="0" err="1"/>
              <a:t>x,y</a:t>
            </a:r>
            <a:r>
              <a:rPr lang="pt-BR" sz="2400" b="1" dirty="0"/>
              <a:t>)</a:t>
            </a:r>
            <a:r>
              <a:rPr lang="pt-BR" sz="2400" dirty="0"/>
              <a:t> a distância e direção definida pelo vetor </a:t>
            </a:r>
            <a:r>
              <a:rPr lang="pt-BR" sz="2400" b="1" dirty="0"/>
              <a:t>(</a:t>
            </a:r>
            <a:r>
              <a:rPr lang="pt-BR" sz="2400" b="1" dirty="0" err="1"/>
              <a:t>Dx,Dy</a:t>
            </a:r>
            <a:r>
              <a:rPr lang="pt-BR" sz="2400" b="1" dirty="0"/>
              <a:t>)</a:t>
            </a:r>
            <a:r>
              <a:rPr lang="pt-BR" sz="2400" dirty="0"/>
              <a:t>, podemos escrever:</a:t>
            </a:r>
          </a:p>
          <a:p>
            <a:pPr lvl="1">
              <a:buNone/>
            </a:pPr>
            <a:r>
              <a:rPr lang="pt-BR" sz="2800" b="1" i="1" dirty="0">
                <a:solidFill>
                  <a:schemeClr val="tx1"/>
                </a:solidFill>
              </a:rPr>
              <a:t>	x’ = x + </a:t>
            </a:r>
            <a:r>
              <a:rPr lang="pt-BR" sz="2800" b="1" i="1" dirty="0" err="1">
                <a:solidFill>
                  <a:schemeClr val="tx1"/>
                </a:solidFill>
              </a:rPr>
              <a:t>Dx</a:t>
            </a:r>
            <a:r>
              <a:rPr lang="pt-BR" sz="2800" b="1" i="1" dirty="0">
                <a:solidFill>
                  <a:schemeClr val="tx1"/>
                </a:solidFill>
              </a:rPr>
              <a:t>,		</a:t>
            </a:r>
          </a:p>
          <a:p>
            <a:pPr lvl="1">
              <a:buNone/>
            </a:pPr>
            <a:r>
              <a:rPr lang="pt-BR" sz="2800" b="1" i="1" dirty="0">
                <a:solidFill>
                  <a:schemeClr val="tx1"/>
                </a:solidFill>
              </a:rPr>
              <a:t>	y’ = y + </a:t>
            </a:r>
            <a:r>
              <a:rPr lang="pt-BR" sz="2800" b="1" i="1" dirty="0" err="1">
                <a:solidFill>
                  <a:schemeClr val="tx1"/>
                </a:solidFill>
              </a:rPr>
              <a:t>Dy</a:t>
            </a:r>
            <a:r>
              <a:rPr lang="pt-BR" sz="2800" b="1" i="1" dirty="0" smtClean="0">
                <a:solidFill>
                  <a:schemeClr val="tx1"/>
                </a:solidFill>
              </a:rPr>
              <a:t>.</a:t>
            </a:r>
            <a:endParaRPr lang="pt-BR" sz="2800" b="1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777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Translação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158904" y="2378075"/>
            <a:ext cx="6781800" cy="3886200"/>
            <a:chOff x="288" y="1392"/>
            <a:chExt cx="4272" cy="2448"/>
          </a:xfrm>
        </p:grpSpPr>
        <p:grpSp>
          <p:nvGrpSpPr>
            <p:cNvPr id="5" name="Group 4"/>
            <p:cNvGrpSpPr>
              <a:grpSpLocks/>
            </p:cNvGrpSpPr>
            <p:nvPr/>
          </p:nvGrpSpPr>
          <p:grpSpPr bwMode="auto">
            <a:xfrm>
              <a:off x="288" y="1392"/>
              <a:ext cx="4272" cy="2448"/>
              <a:chOff x="288" y="1392"/>
              <a:chExt cx="4272" cy="2448"/>
            </a:xfrm>
          </p:grpSpPr>
          <p:sp>
            <p:nvSpPr>
              <p:cNvPr id="9" name="Rectangle 5"/>
              <p:cNvSpPr>
                <a:spLocks noChangeArrowheads="1"/>
              </p:cNvSpPr>
              <p:nvPr/>
            </p:nvSpPr>
            <p:spPr bwMode="auto">
              <a:xfrm>
                <a:off x="288" y="1392"/>
                <a:ext cx="4272" cy="244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Line 6"/>
              <p:cNvSpPr>
                <a:spLocks noChangeShapeType="1"/>
              </p:cNvSpPr>
              <p:nvPr/>
            </p:nvSpPr>
            <p:spPr bwMode="auto">
              <a:xfrm>
                <a:off x="384" y="1488"/>
                <a:ext cx="0" cy="230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Line 7"/>
              <p:cNvSpPr>
                <a:spLocks noChangeShapeType="1"/>
              </p:cNvSpPr>
              <p:nvPr/>
            </p:nvSpPr>
            <p:spPr bwMode="auto">
              <a:xfrm>
                <a:off x="384" y="3792"/>
                <a:ext cx="40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" name="Group 8"/>
            <p:cNvGrpSpPr>
              <a:grpSpLocks/>
            </p:cNvGrpSpPr>
            <p:nvPr/>
          </p:nvGrpSpPr>
          <p:grpSpPr bwMode="auto">
            <a:xfrm>
              <a:off x="528" y="3120"/>
              <a:ext cx="564" cy="301"/>
              <a:chOff x="528" y="3299"/>
              <a:chExt cx="564" cy="301"/>
            </a:xfrm>
          </p:grpSpPr>
          <p:sp>
            <p:nvSpPr>
              <p:cNvPr id="7" name="Oval 9"/>
              <p:cNvSpPr>
                <a:spLocks noChangeArrowheads="1"/>
              </p:cNvSpPr>
              <p:nvPr/>
            </p:nvSpPr>
            <p:spPr bwMode="auto">
              <a:xfrm>
                <a:off x="528" y="350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" name="Text Box 10"/>
              <p:cNvSpPr txBox="1">
                <a:spLocks noChangeArrowheads="1"/>
              </p:cNvSpPr>
              <p:nvPr/>
            </p:nvSpPr>
            <p:spPr bwMode="auto">
              <a:xfrm>
                <a:off x="566" y="3299"/>
                <a:ext cx="526" cy="218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60000"/>
                  </a:spcBef>
                  <a:buClr>
                    <a:schemeClr val="tx1"/>
                  </a:buClr>
                </a:pPr>
                <a:r>
                  <a:rPr kumimoji="1" lang="pt-BR" sz="1600" b="1">
                    <a:solidFill>
                      <a:srgbClr val="FFFF00"/>
                    </a:solidFill>
                    <a:latin typeface="Tahoma" pitchFamily="34" charset="0"/>
                  </a:rPr>
                  <a:t>P(1,2)</a:t>
                </a:r>
              </a:p>
            </p:txBody>
          </p:sp>
        </p:grpSp>
      </p:grpSp>
      <p:grpSp>
        <p:nvGrpSpPr>
          <p:cNvPr id="12" name="Group 11"/>
          <p:cNvGrpSpPr>
            <a:grpSpLocks/>
          </p:cNvGrpSpPr>
          <p:nvPr/>
        </p:nvGrpSpPr>
        <p:grpSpPr bwMode="auto">
          <a:xfrm>
            <a:off x="6569104" y="3673475"/>
            <a:ext cx="896938" cy="477838"/>
            <a:chOff x="528" y="3299"/>
            <a:chExt cx="550" cy="301"/>
          </a:xfrm>
        </p:grpSpPr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528" y="3504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566" y="3299"/>
              <a:ext cx="512" cy="21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1600" b="1">
                  <a:solidFill>
                    <a:srgbClr val="FFFF00"/>
                  </a:solidFill>
                  <a:latin typeface="Tahoma" pitchFamily="34" charset="0"/>
                </a:rPr>
                <a:t>P(8,7)</a:t>
              </a:r>
            </a:p>
          </p:txBody>
        </p:sp>
      </p:grp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1311304" y="4435475"/>
            <a:ext cx="4714875" cy="1752600"/>
            <a:chOff x="384" y="2688"/>
            <a:chExt cx="2970" cy="1104"/>
          </a:xfrm>
        </p:grpSpPr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384" y="3072"/>
              <a:ext cx="2880" cy="72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832" y="2688"/>
              <a:ext cx="522" cy="25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000" b="1">
                  <a:solidFill>
                    <a:srgbClr val="FFFF00"/>
                  </a:solidFill>
                  <a:latin typeface="Tahoma" pitchFamily="34" charset="0"/>
                </a:rPr>
                <a:t>(7,5)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292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Translação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Em notação matricial:</a:t>
            </a:r>
          </a:p>
          <a:p>
            <a:pPr lvl="1"/>
            <a:r>
              <a:rPr lang="pt-BR" sz="2000" b="1" dirty="0"/>
              <a:t>P = [x  y],   </a:t>
            </a:r>
            <a:endParaRPr lang="pt-BR" sz="2000" b="1" dirty="0" smtClean="0"/>
          </a:p>
          <a:p>
            <a:pPr lvl="1"/>
            <a:r>
              <a:rPr lang="pt-BR" sz="2000" b="1" dirty="0" smtClean="0"/>
              <a:t>P</a:t>
            </a:r>
            <a:r>
              <a:rPr lang="pt-BR" sz="2000" b="1" dirty="0"/>
              <a:t>’ = [x’  y’],   </a:t>
            </a:r>
            <a:endParaRPr lang="pt-BR" sz="2000" b="1" dirty="0" smtClean="0"/>
          </a:p>
          <a:p>
            <a:pPr lvl="1"/>
            <a:r>
              <a:rPr lang="pt-BR" sz="2000" b="1" dirty="0" smtClean="0"/>
              <a:t>T </a:t>
            </a:r>
            <a:r>
              <a:rPr lang="pt-BR" sz="2000" b="1" dirty="0"/>
              <a:t>= [</a:t>
            </a:r>
            <a:r>
              <a:rPr lang="pt-BR" sz="2000" b="1" dirty="0" err="1"/>
              <a:t>Dx</a:t>
            </a:r>
            <a:r>
              <a:rPr lang="pt-BR" sz="2000" b="1" dirty="0"/>
              <a:t>  </a:t>
            </a:r>
            <a:r>
              <a:rPr lang="pt-BR" sz="2000" b="1" dirty="0" err="1"/>
              <a:t>Dy</a:t>
            </a:r>
            <a:r>
              <a:rPr lang="pt-BR" sz="2000" b="1" dirty="0"/>
              <a:t>]</a:t>
            </a:r>
          </a:p>
          <a:p>
            <a:r>
              <a:rPr lang="pt-BR" dirty="0"/>
              <a:t>Dessa forma reescrevendo de forma vetorial:</a:t>
            </a:r>
          </a:p>
          <a:p>
            <a:pPr lvl="1"/>
            <a:r>
              <a:rPr lang="pt-BR" sz="2000" b="1" dirty="0"/>
              <a:t>[x’  y’] = [x  y] + [</a:t>
            </a:r>
            <a:r>
              <a:rPr lang="pt-BR" sz="2000" b="1" dirty="0" err="1"/>
              <a:t>Dx</a:t>
            </a:r>
            <a:r>
              <a:rPr lang="pt-BR" sz="2000" b="1" dirty="0"/>
              <a:t>  </a:t>
            </a:r>
            <a:r>
              <a:rPr lang="pt-BR" sz="2000" b="1" dirty="0" err="1" smtClean="0"/>
              <a:t>Dy</a:t>
            </a:r>
            <a:r>
              <a:rPr lang="pt-BR" sz="2000" b="1" dirty="0" smtClean="0"/>
              <a:t>]</a:t>
            </a:r>
            <a:r>
              <a:rPr lang="pt-BR" sz="2000" dirty="0" smtClean="0"/>
              <a:t>, ou</a:t>
            </a:r>
            <a:endParaRPr lang="pt-BR" dirty="0"/>
          </a:p>
          <a:p>
            <a:pPr lvl="1"/>
            <a:r>
              <a:rPr lang="pt-BR" sz="2000" b="1" dirty="0"/>
              <a:t>P’ =  P  + T </a:t>
            </a:r>
            <a:r>
              <a:rPr lang="pt-BR" sz="2000" b="1" dirty="0" smtClean="0"/>
              <a:t> (para </a:t>
            </a:r>
            <a:r>
              <a:rPr lang="pt-BR" sz="2000" b="1" dirty="0"/>
              <a:t>todo P do Objeto a ser </a:t>
            </a:r>
            <a:r>
              <a:rPr lang="pt-BR" sz="2000" b="1" dirty="0" smtClean="0"/>
              <a:t>Transladado)</a:t>
            </a:r>
            <a:endParaRPr lang="pt-BR" sz="2000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226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Translação 2D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0" y="2070100"/>
          <a:ext cx="9144000" cy="373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3" name="CorelDRAW" r:id="rId3" imgW="4457700" imgH="1823720" progId="CorelDraw.Graphic.8">
                  <p:embed/>
                </p:oleObj>
              </mc:Choice>
              <mc:Fallback>
                <p:oleObj name="CorelDRAW" r:id="rId3" imgW="4457700" imgH="1823720" progId="CorelDraw.Graphic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070100"/>
                        <a:ext cx="9144000" cy="3738563"/>
                      </a:xfrm>
                      <a:prstGeom prst="rect">
                        <a:avLst/>
                      </a:prstGeom>
                      <a:solidFill>
                        <a:srgbClr val="A4BFF4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>
                        <a:outerShdw dist="107763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076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Pontos no Plano </a:t>
            </a:r>
            <a:r>
              <a:rPr lang="pt-BR" b="1" i="1" dirty="0" err="1"/>
              <a:t>xy</a:t>
            </a:r>
            <a:r>
              <a:rPr lang="pt-BR" b="1" i="1" dirty="0"/>
              <a:t> </a:t>
            </a:r>
            <a:r>
              <a:rPr lang="pt-BR" dirty="0"/>
              <a:t>podem ser escalonados (esticados) por fatores de escala </a:t>
            </a:r>
            <a:r>
              <a:rPr lang="pt-BR" b="1" i="1" dirty="0" err="1"/>
              <a:t>Sx</a:t>
            </a:r>
            <a:r>
              <a:rPr lang="pt-BR" dirty="0"/>
              <a:t> e </a:t>
            </a:r>
            <a:r>
              <a:rPr lang="pt-BR" b="1" i="1" dirty="0" err="1"/>
              <a:t>Sy</a:t>
            </a:r>
            <a:r>
              <a:rPr lang="pt-BR" b="1" i="1" dirty="0"/>
              <a:t> </a:t>
            </a:r>
            <a:r>
              <a:rPr lang="pt-BR" dirty="0"/>
              <a:t>através de multiplicação:</a:t>
            </a:r>
          </a:p>
          <a:p>
            <a:pPr lvl="1"/>
            <a:r>
              <a:rPr lang="pt-BR" sz="2000" b="1" dirty="0" smtClean="0"/>
              <a:t>x</a:t>
            </a:r>
            <a:r>
              <a:rPr lang="pt-BR" sz="2000" b="1" dirty="0"/>
              <a:t>’ = x . </a:t>
            </a:r>
            <a:r>
              <a:rPr lang="pt-BR" sz="2000" b="1" dirty="0" err="1"/>
              <a:t>Sx</a:t>
            </a:r>
            <a:r>
              <a:rPr lang="pt-BR" sz="2000" b="1" dirty="0" smtClean="0"/>
              <a:t>,</a:t>
            </a:r>
          </a:p>
          <a:p>
            <a:pPr lvl="1"/>
            <a:r>
              <a:rPr lang="pt-BR" sz="2000" b="1" dirty="0" smtClean="0"/>
              <a:t>y</a:t>
            </a:r>
            <a:r>
              <a:rPr lang="pt-BR" sz="2000" b="1" dirty="0"/>
              <a:t>’ = y . </a:t>
            </a:r>
            <a:r>
              <a:rPr lang="pt-BR" sz="2000" b="1" dirty="0" err="1"/>
              <a:t>Sy</a:t>
            </a:r>
            <a:r>
              <a:rPr lang="pt-BR" sz="2000" b="1" dirty="0"/>
              <a:t>.</a:t>
            </a:r>
          </a:p>
          <a:p>
            <a:r>
              <a:rPr lang="pt-BR" dirty="0" smtClean="0"/>
              <a:t>Exemplo</a:t>
            </a:r>
            <a:r>
              <a:rPr lang="pt-BR" dirty="0"/>
              <a:t>: </a:t>
            </a:r>
            <a:endParaRPr lang="pt-BR" dirty="0" smtClean="0"/>
          </a:p>
          <a:p>
            <a:pPr lvl="1"/>
            <a:r>
              <a:rPr lang="pt-BR" dirty="0" smtClean="0"/>
              <a:t>A partir de </a:t>
            </a:r>
            <a:r>
              <a:rPr lang="pt-BR" b="1" dirty="0" smtClean="0"/>
              <a:t>P (6,6)</a:t>
            </a:r>
          </a:p>
          <a:p>
            <a:pPr lvl="1"/>
            <a:r>
              <a:rPr lang="pt-BR" dirty="0" smtClean="0"/>
              <a:t>Escalonamos em X : </a:t>
            </a:r>
            <a:r>
              <a:rPr lang="pt-BR" b="1" dirty="0" smtClean="0"/>
              <a:t>1/2</a:t>
            </a:r>
            <a:r>
              <a:rPr lang="pt-BR" dirty="0" smtClean="0"/>
              <a:t> </a:t>
            </a:r>
          </a:p>
          <a:p>
            <a:pPr lvl="1"/>
            <a:r>
              <a:rPr lang="pt-BR" dirty="0"/>
              <a:t>Escalonamos em Y</a:t>
            </a:r>
            <a:r>
              <a:rPr lang="pt-BR" dirty="0" smtClean="0"/>
              <a:t>: </a:t>
            </a:r>
            <a:r>
              <a:rPr lang="pt-BR" b="1" dirty="0" smtClean="0"/>
              <a:t>1/3</a:t>
            </a:r>
          </a:p>
          <a:p>
            <a:pPr lvl="1"/>
            <a:r>
              <a:rPr lang="pt-BR" dirty="0" smtClean="0"/>
              <a:t>Temos </a:t>
            </a:r>
            <a:r>
              <a:rPr lang="pt-BR" b="1" dirty="0" smtClean="0"/>
              <a:t>P’(3,2)</a:t>
            </a:r>
            <a:endParaRPr lang="pt-BR" b="1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3491881" y="3861048"/>
            <a:ext cx="5400600" cy="2857420"/>
            <a:chOff x="528" y="1248"/>
            <a:chExt cx="4272" cy="2448"/>
          </a:xfrm>
          <a:solidFill>
            <a:schemeClr val="bg2">
              <a:lumMod val="75000"/>
            </a:schemeClr>
          </a:solidFill>
        </p:grpSpPr>
        <p:grpSp>
          <p:nvGrpSpPr>
            <p:cNvPr id="5" name="Group 5"/>
            <p:cNvGrpSpPr>
              <a:grpSpLocks/>
            </p:cNvGrpSpPr>
            <p:nvPr/>
          </p:nvGrpSpPr>
          <p:grpSpPr bwMode="auto">
            <a:xfrm>
              <a:off x="528" y="1248"/>
              <a:ext cx="4272" cy="2448"/>
              <a:chOff x="288" y="1392"/>
              <a:chExt cx="4272" cy="2448"/>
            </a:xfrm>
            <a:grpFill/>
          </p:grpSpPr>
          <p:sp>
            <p:nvSpPr>
              <p:cNvPr id="9" name="Rectangle 6"/>
              <p:cNvSpPr>
                <a:spLocks noChangeArrowheads="1"/>
              </p:cNvSpPr>
              <p:nvPr/>
            </p:nvSpPr>
            <p:spPr bwMode="auto">
              <a:xfrm>
                <a:off x="288" y="1392"/>
                <a:ext cx="4272" cy="2448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Line 7"/>
              <p:cNvSpPr>
                <a:spLocks noChangeShapeType="1"/>
              </p:cNvSpPr>
              <p:nvPr/>
            </p:nvSpPr>
            <p:spPr bwMode="auto">
              <a:xfrm>
                <a:off x="384" y="1488"/>
                <a:ext cx="0" cy="2304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1" name="Line 8"/>
              <p:cNvSpPr>
                <a:spLocks noChangeShapeType="1"/>
              </p:cNvSpPr>
              <p:nvPr/>
            </p:nvSpPr>
            <p:spPr bwMode="auto">
              <a:xfrm>
                <a:off x="384" y="3792"/>
                <a:ext cx="4080" cy="0"/>
              </a:xfrm>
              <a:prstGeom prst="line">
                <a:avLst/>
              </a:prstGeom>
              <a:grp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2452" y="1596"/>
              <a:ext cx="825" cy="386"/>
              <a:chOff x="436" y="3215"/>
              <a:chExt cx="825" cy="386"/>
            </a:xfrm>
            <a:grpFill/>
          </p:grpSpPr>
          <p:sp>
            <p:nvSpPr>
              <p:cNvPr id="7" name="Oval 10"/>
              <p:cNvSpPr>
                <a:spLocks noChangeArrowheads="1"/>
              </p:cNvSpPr>
              <p:nvPr/>
            </p:nvSpPr>
            <p:spPr bwMode="auto">
              <a:xfrm>
                <a:off x="528" y="3504"/>
                <a:ext cx="96" cy="96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" name="Text Box 11"/>
              <p:cNvSpPr txBox="1">
                <a:spLocks noChangeArrowheads="1"/>
              </p:cNvSpPr>
              <p:nvPr/>
            </p:nvSpPr>
            <p:spPr bwMode="auto">
              <a:xfrm>
                <a:off x="436" y="3215"/>
                <a:ext cx="825" cy="386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spcBef>
                    <a:spcPct val="60000"/>
                  </a:spcBef>
                  <a:buClr>
                    <a:schemeClr val="tx1"/>
                  </a:buClr>
                </a:pPr>
                <a:r>
                  <a:rPr kumimoji="1" lang="pt-BR" sz="1600" b="1" dirty="0">
                    <a:solidFill>
                      <a:srgbClr val="FFFF00"/>
                    </a:solidFill>
                    <a:latin typeface="Tahoma" pitchFamily="34" charset="0"/>
                  </a:rPr>
                  <a:t>P (6,6)</a:t>
                </a:r>
              </a:p>
            </p:txBody>
          </p:sp>
        </p:grpSp>
      </p:grp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6165683" y="5450974"/>
            <a:ext cx="988441" cy="373747"/>
            <a:chOff x="431" y="3226"/>
            <a:chExt cx="852" cy="374"/>
          </a:xfrm>
          <a:solidFill>
            <a:schemeClr val="bg2">
              <a:lumMod val="75000"/>
            </a:schemeClr>
          </a:solidFill>
        </p:grpSpPr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528" y="3504"/>
              <a:ext cx="96" cy="96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431" y="3226"/>
              <a:ext cx="852" cy="351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1600" b="1" dirty="0">
                  <a:solidFill>
                    <a:srgbClr val="FFFF00"/>
                  </a:solidFill>
                  <a:latin typeface="Tahoma" pitchFamily="34" charset="0"/>
                </a:rPr>
                <a:t>P’ (3,2)</a:t>
              </a:r>
            </a:p>
          </p:txBody>
        </p:sp>
      </p:grp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3674992" y="6118988"/>
            <a:ext cx="2439666" cy="509915"/>
            <a:chOff x="384" y="2488"/>
            <a:chExt cx="18973" cy="1304"/>
          </a:xfrm>
          <a:solidFill>
            <a:schemeClr val="bg2">
              <a:lumMod val="75000"/>
            </a:schemeClr>
          </a:solidFill>
        </p:grpSpPr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V="1">
              <a:off x="384" y="3072"/>
              <a:ext cx="2880" cy="720"/>
            </a:xfrm>
            <a:prstGeom prst="line">
              <a:avLst/>
            </a:prstGeom>
            <a:grp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2710" y="2488"/>
              <a:ext cx="16647" cy="1053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000" b="1" dirty="0">
                  <a:solidFill>
                    <a:srgbClr val="FFFF00"/>
                  </a:solidFill>
                  <a:latin typeface="Tahoma" pitchFamily="34" charset="0"/>
                </a:rPr>
                <a:t> S(0,5 , 0,3333)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04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Utilizando matrizes, onde S é definido como a matriz: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pode-se </a:t>
            </a:r>
            <a:r>
              <a:rPr lang="pt-BR" dirty="0"/>
              <a:t>escrever assim:</a:t>
            </a:r>
          </a:p>
          <a:p>
            <a:endParaRPr lang="pt-B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420888"/>
            <a:ext cx="1872208" cy="1524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440" y="4849090"/>
            <a:ext cx="4610394" cy="153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712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Escalonamento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179388" y="2165350"/>
          <a:ext cx="8964612" cy="370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7" name="CorelDRAW" r:id="rId4" imgW="5697220" imgH="2357120" progId="CorelDraw.Graphic.8">
                  <p:embed/>
                </p:oleObj>
              </mc:Choice>
              <mc:Fallback>
                <p:oleObj name="CorelDRAW" r:id="rId4" imgW="5697220" imgH="2357120" progId="CorelDraw.Graphic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100000" contrast="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2165350"/>
                        <a:ext cx="8964612" cy="3708400"/>
                      </a:xfrm>
                      <a:prstGeom prst="rect">
                        <a:avLst/>
                      </a:prstGeom>
                      <a:solidFill>
                        <a:srgbClr val="C0C0C0"/>
                      </a:solidFill>
                      <a:ln w="952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07819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Escalonamento 2D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</a:t>
            </a:r>
            <a:r>
              <a:rPr lang="pt-BR" dirty="0" err="1" smtClean="0"/>
              <a:t>Sx</a:t>
            </a:r>
            <a:r>
              <a:rPr lang="pt-BR" dirty="0" smtClean="0"/>
              <a:t>  </a:t>
            </a:r>
            <a:r>
              <a:rPr lang="pt-BR" dirty="0"/>
              <a:t>&gt; 1 </a:t>
            </a:r>
            <a:r>
              <a:rPr lang="pt-BR" dirty="0" smtClean="0">
                <a:sym typeface="Wingdings" pitchFamily="2" charset="2"/>
              </a:rPr>
              <a:t></a:t>
            </a:r>
            <a:r>
              <a:rPr lang="pt-BR" dirty="0" smtClean="0"/>
              <a:t> </a:t>
            </a:r>
            <a:r>
              <a:rPr lang="pt-BR" dirty="0"/>
              <a:t>aumenta o tamanho do objeto </a:t>
            </a:r>
          </a:p>
          <a:p>
            <a:r>
              <a:rPr lang="pt-BR" dirty="0"/>
              <a:t>Se </a:t>
            </a:r>
            <a:r>
              <a:rPr lang="pt-BR" dirty="0" err="1"/>
              <a:t>Sx</a:t>
            </a:r>
            <a:r>
              <a:rPr lang="pt-BR" dirty="0"/>
              <a:t>  &lt;</a:t>
            </a:r>
            <a:r>
              <a:rPr lang="pt-BR" dirty="0" smtClean="0"/>
              <a:t> </a:t>
            </a:r>
            <a:r>
              <a:rPr lang="pt-BR" dirty="0"/>
              <a:t>1 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 </a:t>
            </a:r>
            <a:r>
              <a:rPr lang="pt-BR" dirty="0" smtClean="0"/>
              <a:t>diminui </a:t>
            </a:r>
            <a:r>
              <a:rPr lang="pt-BR" dirty="0"/>
              <a:t>o tamanho do objeto </a:t>
            </a:r>
          </a:p>
          <a:p>
            <a:r>
              <a:rPr lang="pt-BR" dirty="0"/>
              <a:t>Se </a:t>
            </a:r>
            <a:r>
              <a:rPr lang="pt-BR" dirty="0" err="1"/>
              <a:t>Sx</a:t>
            </a:r>
            <a:r>
              <a:rPr lang="pt-BR" dirty="0"/>
              <a:t>  </a:t>
            </a:r>
            <a:r>
              <a:rPr lang="pt-BR" dirty="0" smtClean="0"/>
              <a:t>= </a:t>
            </a:r>
            <a:r>
              <a:rPr lang="pt-BR" dirty="0"/>
              <a:t>1 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 </a:t>
            </a:r>
            <a:r>
              <a:rPr lang="pt-BR" dirty="0" smtClean="0"/>
              <a:t>mantém </a:t>
            </a:r>
            <a:r>
              <a:rPr lang="pt-BR" dirty="0"/>
              <a:t>o tamanho </a:t>
            </a:r>
          </a:p>
          <a:p>
            <a:r>
              <a:rPr lang="pt-BR" dirty="0" smtClean="0"/>
              <a:t>Se </a:t>
            </a:r>
            <a:r>
              <a:rPr lang="pt-BR" dirty="0" err="1"/>
              <a:t>Sx</a:t>
            </a:r>
            <a:r>
              <a:rPr lang="pt-BR" dirty="0"/>
              <a:t> </a:t>
            </a:r>
            <a:r>
              <a:rPr lang="pt-BR" dirty="0" smtClean="0"/>
              <a:t>= </a:t>
            </a:r>
            <a:r>
              <a:rPr lang="pt-BR" dirty="0" err="1" smtClean="0"/>
              <a:t>Sy</a:t>
            </a:r>
            <a:r>
              <a:rPr lang="pt-BR" dirty="0" smtClean="0"/>
              <a:t> = n </a:t>
            </a:r>
            <a:r>
              <a:rPr lang="pt-BR" dirty="0"/>
              <a:t>&gt; 1 </a:t>
            </a:r>
            <a:r>
              <a:rPr lang="pt-BR" dirty="0">
                <a:sym typeface="Wingdings" pitchFamily="2" charset="2"/>
              </a:rPr>
              <a:t></a:t>
            </a:r>
            <a:r>
              <a:rPr lang="pt-BR" dirty="0"/>
              <a:t> </a:t>
            </a:r>
            <a:r>
              <a:rPr lang="pt-BR" dirty="0" smtClean="0"/>
              <a:t>escala uniforme</a:t>
            </a:r>
          </a:p>
          <a:p>
            <a:r>
              <a:rPr lang="pt-BR" dirty="0" smtClean="0"/>
              <a:t>Dependendo do referencial a escala pode mudar a posição do objeto</a:t>
            </a:r>
            <a:endParaRPr lang="pt-BR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224" y="4365104"/>
            <a:ext cx="7041172" cy="2238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4835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Rotação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Rotacionar</a:t>
            </a:r>
            <a:r>
              <a:rPr lang="pt-BR" dirty="0"/>
              <a:t> um vetor significa mudar sua direção segundo algum eixo de rotação. </a:t>
            </a:r>
            <a:r>
              <a:rPr lang="pt-BR" dirty="0" smtClean="0"/>
              <a:t>Para </a:t>
            </a:r>
            <a:r>
              <a:rPr lang="pt-BR" dirty="0"/>
              <a:t>um vetor </a:t>
            </a:r>
            <a:r>
              <a:rPr lang="pt-BR" dirty="0" smtClean="0"/>
              <a:t>bidimensional</a:t>
            </a:r>
            <a:r>
              <a:rPr lang="pt-BR" dirty="0"/>
              <a:t>, ou seja, paralelo ao plano </a:t>
            </a:r>
            <a:r>
              <a:rPr lang="pt-BR" b="1" i="1" dirty="0" err="1"/>
              <a:t>xy</a:t>
            </a:r>
            <a:r>
              <a:rPr lang="pt-BR" dirty="0"/>
              <a:t>, significa reposicioná-lo sobre um caminho circular, como </a:t>
            </a:r>
            <a:r>
              <a:rPr lang="pt-BR" dirty="0" smtClean="0"/>
              <a:t>ocorre </a:t>
            </a:r>
            <a:r>
              <a:rPr lang="pt-BR" dirty="0"/>
              <a:t>com o movimento dos ponteiros de um relógio.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eixo de rotação é um vetor perpendicular ao plano </a:t>
            </a:r>
            <a:r>
              <a:rPr lang="pt-BR" b="1" i="1" dirty="0" err="1" smtClean="0"/>
              <a:t>xy</a:t>
            </a:r>
            <a:r>
              <a:rPr lang="pt-BR" dirty="0" smtClean="0"/>
              <a:t> </a:t>
            </a:r>
            <a:r>
              <a:rPr lang="pt-BR" dirty="0"/>
              <a:t>e passa pelo centro de rotação. </a:t>
            </a:r>
            <a:r>
              <a:rPr lang="pt-BR" dirty="0" smtClean="0"/>
              <a:t> A </a:t>
            </a:r>
            <a:r>
              <a:rPr lang="pt-BR" dirty="0"/>
              <a:t>rotação é especificada por um ângulo </a:t>
            </a:r>
            <a:r>
              <a:rPr lang="pt-BR" b="1" i="1" dirty="0" smtClean="0">
                <a:latin typeface="Times New Roman"/>
                <a:cs typeface="Times New Roman"/>
              </a:rPr>
              <a:t>Ɵ</a:t>
            </a:r>
            <a:endParaRPr lang="pt-BR" b="1" i="1" dirty="0" smtClean="0"/>
          </a:p>
          <a:p>
            <a:r>
              <a:rPr lang="pt-BR" dirty="0" smtClean="0"/>
              <a:t>Valores </a:t>
            </a:r>
            <a:r>
              <a:rPr lang="pt-BR" dirty="0"/>
              <a:t>positivos de </a:t>
            </a:r>
            <a:r>
              <a:rPr lang="pt-BR" b="1" i="1" dirty="0">
                <a:latin typeface="Times New Roman"/>
                <a:cs typeface="Times New Roman"/>
              </a:rPr>
              <a:t>Ɵ</a:t>
            </a:r>
            <a:r>
              <a:rPr lang="pt-BR" dirty="0" smtClean="0"/>
              <a:t> </a:t>
            </a:r>
            <a:r>
              <a:rPr lang="pt-BR" dirty="0"/>
              <a:t>geram uma rotação no sentido anti-horário. Neste exemplo, considera-se que o centro </a:t>
            </a:r>
            <a:r>
              <a:rPr lang="pt-BR" dirty="0" smtClean="0"/>
              <a:t>de </a:t>
            </a:r>
            <a:r>
              <a:rPr lang="pt-BR" dirty="0"/>
              <a:t>rotação é a origem do sistema de coordenadas.</a:t>
            </a:r>
          </a:p>
          <a:p>
            <a:endParaRPr lang="pt-BR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817456"/>
            <a:ext cx="2766070" cy="2040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281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Rotação 2D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Pontos no Plano </a:t>
            </a:r>
            <a:r>
              <a:rPr lang="pt-BR" b="1" i="1" dirty="0" err="1"/>
              <a:t>xy</a:t>
            </a:r>
            <a:r>
              <a:rPr lang="pt-BR" b="1" i="1" dirty="0"/>
              <a:t> </a:t>
            </a:r>
            <a:r>
              <a:rPr lang="pt-BR" dirty="0"/>
              <a:t>podem ser </a:t>
            </a:r>
            <a:r>
              <a:rPr lang="pt-BR" dirty="0" err="1"/>
              <a:t>rotacionados</a:t>
            </a:r>
            <a:r>
              <a:rPr lang="pt-BR" dirty="0"/>
              <a:t> ao redor da origem por um ângulo </a:t>
            </a:r>
            <a:r>
              <a:rPr lang="pt-BR" b="1" i="1" dirty="0">
                <a:latin typeface="Times New Roman"/>
                <a:cs typeface="Times New Roman"/>
              </a:rPr>
              <a:t>Ɵ</a:t>
            </a:r>
            <a:r>
              <a:rPr lang="pt-BR" dirty="0">
                <a:latin typeface="Times New Roman"/>
                <a:cs typeface="Times New Roman"/>
              </a:rPr>
              <a:t> </a:t>
            </a:r>
            <a:r>
              <a:rPr lang="pt-BR" dirty="0"/>
              <a:t>através da fórmula:</a:t>
            </a:r>
          </a:p>
          <a:p>
            <a:pPr lvl="1"/>
            <a:r>
              <a:rPr lang="pt-BR" sz="2000" b="1" dirty="0"/>
              <a:t>x’ = x . cos (</a:t>
            </a:r>
            <a:r>
              <a:rPr lang="pt-BR" sz="2000" b="1" i="1" dirty="0">
                <a:latin typeface="Times New Roman"/>
                <a:cs typeface="Times New Roman"/>
              </a:rPr>
              <a:t>Ɵ</a:t>
            </a:r>
            <a:r>
              <a:rPr lang="pt-BR" sz="2000" b="1" dirty="0"/>
              <a:t>) - y . </a:t>
            </a:r>
            <a:r>
              <a:rPr lang="pt-BR" sz="2000" b="1" dirty="0" err="1"/>
              <a:t>sen</a:t>
            </a:r>
            <a:r>
              <a:rPr lang="pt-BR" sz="2000" b="1" dirty="0"/>
              <a:t> (</a:t>
            </a:r>
            <a:r>
              <a:rPr lang="pt-BR" sz="2000" b="1" i="1" dirty="0">
                <a:latin typeface="Times New Roman"/>
                <a:cs typeface="Times New Roman"/>
              </a:rPr>
              <a:t>Ɵ</a:t>
            </a:r>
            <a:r>
              <a:rPr lang="pt-BR" sz="2000" b="1" dirty="0"/>
              <a:t>),	</a:t>
            </a:r>
          </a:p>
          <a:p>
            <a:pPr lvl="1"/>
            <a:r>
              <a:rPr lang="pt-BR" sz="2000" b="1" dirty="0"/>
              <a:t>y’ = x . </a:t>
            </a:r>
            <a:r>
              <a:rPr lang="pt-BR" sz="2000" b="1" dirty="0" err="1"/>
              <a:t>sen</a:t>
            </a:r>
            <a:r>
              <a:rPr lang="pt-BR" sz="2000" b="1" dirty="0"/>
              <a:t> (</a:t>
            </a:r>
            <a:r>
              <a:rPr lang="pt-BR" sz="2000" b="1" i="1" dirty="0">
                <a:latin typeface="Times New Roman"/>
                <a:cs typeface="Times New Roman"/>
              </a:rPr>
              <a:t>Ɵ</a:t>
            </a:r>
            <a:r>
              <a:rPr lang="pt-BR" sz="2000" b="1" dirty="0"/>
              <a:t>) + y . cos (</a:t>
            </a:r>
            <a:r>
              <a:rPr lang="pt-BR" sz="2000" b="1" i="1" dirty="0">
                <a:latin typeface="Times New Roman"/>
                <a:cs typeface="Times New Roman"/>
              </a:rPr>
              <a:t>Ɵ</a:t>
            </a:r>
            <a:r>
              <a:rPr lang="pt-BR" sz="2000" b="1" dirty="0"/>
              <a:t>)	</a:t>
            </a:r>
          </a:p>
          <a:p>
            <a:r>
              <a:rPr lang="pt-BR" dirty="0"/>
              <a:t>Exemplo: </a:t>
            </a:r>
            <a:r>
              <a:rPr lang="pt-BR" dirty="0" err="1" smtClean="0"/>
              <a:t>rotacionamos</a:t>
            </a:r>
            <a:r>
              <a:rPr lang="pt-BR" dirty="0" smtClean="0"/>
              <a:t> </a:t>
            </a:r>
            <a:r>
              <a:rPr lang="pt-BR" dirty="0"/>
              <a:t>o ponto (6,1) em 30 graus em torno de (0,0).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088232" y="4077072"/>
            <a:ext cx="5076056" cy="2724729"/>
            <a:chOff x="-4512" y="1248"/>
            <a:chExt cx="4272" cy="2448"/>
          </a:xfrm>
          <a:solidFill>
            <a:schemeClr val="bg2">
              <a:lumMod val="75000"/>
            </a:schemeClr>
          </a:solidFill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-4512" y="1248"/>
              <a:ext cx="4272" cy="2448"/>
              <a:chOff x="288" y="1392"/>
              <a:chExt cx="4272" cy="2448"/>
            </a:xfrm>
            <a:grpFill/>
          </p:grpSpPr>
          <p:sp>
            <p:nvSpPr>
              <p:cNvPr id="11" name="Rectangle 16"/>
              <p:cNvSpPr>
                <a:spLocks noChangeArrowheads="1"/>
              </p:cNvSpPr>
              <p:nvPr/>
            </p:nvSpPr>
            <p:spPr bwMode="auto">
              <a:xfrm>
                <a:off x="288" y="1392"/>
                <a:ext cx="4272" cy="2448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rgbClr val="808080"/>
                </a:outerShdw>
              </a:effec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2" name="Line 17"/>
              <p:cNvSpPr>
                <a:spLocks noChangeShapeType="1"/>
              </p:cNvSpPr>
              <p:nvPr/>
            </p:nvSpPr>
            <p:spPr bwMode="auto">
              <a:xfrm>
                <a:off x="384" y="1488"/>
                <a:ext cx="0" cy="2304"/>
              </a:xfrm>
              <a:prstGeom prst="line">
                <a:avLst/>
              </a:prstGeom>
              <a:grp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3" name="Line 18"/>
              <p:cNvSpPr>
                <a:spLocks noChangeShapeType="1"/>
              </p:cNvSpPr>
              <p:nvPr/>
            </p:nvSpPr>
            <p:spPr bwMode="auto">
              <a:xfrm>
                <a:off x="384" y="3792"/>
                <a:ext cx="4080" cy="0"/>
              </a:xfrm>
              <a:prstGeom prst="line">
                <a:avLst/>
              </a:prstGeom>
              <a:grp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6" name="Group 19"/>
            <p:cNvGrpSpPr>
              <a:grpSpLocks/>
            </p:cNvGrpSpPr>
            <p:nvPr/>
          </p:nvGrpSpPr>
          <p:grpSpPr bwMode="auto">
            <a:xfrm>
              <a:off x="-4416" y="3136"/>
              <a:ext cx="3641" cy="512"/>
              <a:chOff x="-4416" y="3136"/>
              <a:chExt cx="3641" cy="512"/>
            </a:xfrm>
            <a:grpFill/>
          </p:grpSpPr>
          <p:grpSp>
            <p:nvGrpSpPr>
              <p:cNvPr id="7" name="Group 20"/>
              <p:cNvGrpSpPr>
                <a:grpSpLocks/>
              </p:cNvGrpSpPr>
              <p:nvPr/>
            </p:nvGrpSpPr>
            <p:grpSpPr bwMode="auto">
              <a:xfrm>
                <a:off x="-2016" y="3136"/>
                <a:ext cx="1241" cy="332"/>
                <a:chOff x="528" y="3299"/>
                <a:chExt cx="1241" cy="332"/>
              </a:xfrm>
              <a:grpFill/>
            </p:grpSpPr>
            <p:sp>
              <p:nvSpPr>
                <p:cNvPr id="9" name="Oval 21"/>
                <p:cNvSpPr>
                  <a:spLocks noChangeArrowheads="1"/>
                </p:cNvSpPr>
                <p:nvPr/>
              </p:nvSpPr>
              <p:spPr bwMode="auto">
                <a:xfrm>
                  <a:off x="528" y="3504"/>
                  <a:ext cx="96" cy="96"/>
                </a:xfrm>
                <a:prstGeom prst="ellipse">
                  <a:avLst/>
                </a:prstGeom>
                <a:grp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81320" dir="2319588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1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80" y="3299"/>
                  <a:ext cx="989" cy="332"/>
                </a:xfrm>
                <a:prstGeom prst="rect">
                  <a:avLst/>
                </a:prstGeom>
                <a:grp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81320" dir="2319588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60000"/>
                    </a:spcBef>
                    <a:buClr>
                      <a:schemeClr val="tx1"/>
                    </a:buClr>
                  </a:pPr>
                  <a:r>
                    <a:rPr kumimoji="1" lang="pt-BR" sz="1800" b="1" dirty="0">
                      <a:solidFill>
                        <a:srgbClr val="FFFF00"/>
                      </a:solidFill>
                      <a:latin typeface="Tahoma" pitchFamily="34" charset="0"/>
                    </a:rPr>
                    <a:t>P (6,1)</a:t>
                  </a:r>
                </a:p>
              </p:txBody>
            </p:sp>
          </p:grpSp>
          <p:sp>
            <p:nvSpPr>
              <p:cNvPr id="8" name="Line 23"/>
              <p:cNvSpPr>
                <a:spLocks noChangeShapeType="1"/>
              </p:cNvSpPr>
              <p:nvPr/>
            </p:nvSpPr>
            <p:spPr bwMode="auto">
              <a:xfrm flipV="1">
                <a:off x="-4416" y="3408"/>
                <a:ext cx="2400" cy="240"/>
              </a:xfrm>
              <a:prstGeom prst="line">
                <a:avLst/>
              </a:prstGeom>
              <a:grp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grpSp>
        <p:nvGrpSpPr>
          <p:cNvPr id="14" name="Group 24"/>
          <p:cNvGrpSpPr>
            <a:grpSpLocks/>
          </p:cNvGrpSpPr>
          <p:nvPr/>
        </p:nvGrpSpPr>
        <p:grpSpPr bwMode="auto">
          <a:xfrm>
            <a:off x="2232326" y="5040886"/>
            <a:ext cx="3725955" cy="1693774"/>
            <a:chOff x="-4416" y="1793"/>
            <a:chExt cx="3695" cy="1855"/>
          </a:xfrm>
        </p:grpSpPr>
        <p:grpSp>
          <p:nvGrpSpPr>
            <p:cNvPr id="15" name="Group 25"/>
            <p:cNvGrpSpPr>
              <a:grpSpLocks/>
            </p:cNvGrpSpPr>
            <p:nvPr/>
          </p:nvGrpSpPr>
          <p:grpSpPr bwMode="auto">
            <a:xfrm>
              <a:off x="-4416" y="1793"/>
              <a:ext cx="3695" cy="1855"/>
              <a:chOff x="-4416" y="1793"/>
              <a:chExt cx="3695" cy="1855"/>
            </a:xfrm>
          </p:grpSpPr>
          <p:grpSp>
            <p:nvGrpSpPr>
              <p:cNvPr id="18" name="Group 26"/>
              <p:cNvGrpSpPr>
                <a:grpSpLocks/>
              </p:cNvGrpSpPr>
              <p:nvPr/>
            </p:nvGrpSpPr>
            <p:grpSpPr bwMode="auto">
              <a:xfrm>
                <a:off x="-2688" y="1793"/>
                <a:ext cx="1967" cy="404"/>
                <a:chOff x="528" y="3220"/>
                <a:chExt cx="1915" cy="404"/>
              </a:xfrm>
            </p:grpSpPr>
            <p:sp>
              <p:nvSpPr>
                <p:cNvPr id="20" name="Oval 27"/>
                <p:cNvSpPr>
                  <a:spLocks noChangeArrowheads="1"/>
                </p:cNvSpPr>
                <p:nvPr/>
              </p:nvSpPr>
              <p:spPr bwMode="auto">
                <a:xfrm>
                  <a:off x="528" y="3504"/>
                  <a:ext cx="96" cy="9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81320" dir="2319588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2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714" y="3220"/>
                  <a:ext cx="1729" cy="404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81320" dir="2319588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</a:defRPr>
                  </a:lvl9pPr>
                </a:lstStyle>
                <a:p>
                  <a:pPr>
                    <a:spcBef>
                      <a:spcPct val="60000"/>
                    </a:spcBef>
                    <a:buClr>
                      <a:schemeClr val="tx1"/>
                    </a:buClr>
                  </a:pPr>
                  <a:r>
                    <a:rPr kumimoji="1" lang="pt-BR" sz="1800" b="1" dirty="0">
                      <a:solidFill>
                        <a:srgbClr val="FFFF00"/>
                      </a:solidFill>
                      <a:latin typeface="Tahoma" pitchFamily="34" charset="0"/>
                    </a:rPr>
                    <a:t>P’ (4.7 , 3.9)</a:t>
                  </a:r>
                </a:p>
              </p:txBody>
            </p:sp>
          </p:grpSp>
          <p:sp>
            <p:nvSpPr>
              <p:cNvPr id="19" name="Line 29"/>
              <p:cNvSpPr>
                <a:spLocks noChangeShapeType="1"/>
              </p:cNvSpPr>
              <p:nvPr/>
            </p:nvSpPr>
            <p:spPr bwMode="auto">
              <a:xfrm flipV="1">
                <a:off x="-4416" y="2160"/>
                <a:ext cx="1728" cy="148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81320" dir="2319588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16" name="Arc 30"/>
            <p:cNvSpPr>
              <a:spLocks/>
            </p:cNvSpPr>
            <p:nvPr/>
          </p:nvSpPr>
          <p:spPr bwMode="auto">
            <a:xfrm>
              <a:off x="-3216" y="2640"/>
              <a:ext cx="528" cy="8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7" name="Text Box 31"/>
            <p:cNvSpPr txBox="1">
              <a:spLocks noChangeArrowheads="1"/>
            </p:cNvSpPr>
            <p:nvPr/>
          </p:nvSpPr>
          <p:spPr bwMode="auto">
            <a:xfrm>
              <a:off x="-2663" y="2661"/>
              <a:ext cx="746" cy="539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600" dirty="0">
                  <a:solidFill>
                    <a:srgbClr val="FFFF00"/>
                  </a:solidFill>
                  <a:latin typeface="Tahoma" pitchFamily="34" charset="0"/>
                </a:rPr>
                <a:t>30</a:t>
              </a:r>
              <a:r>
                <a:rPr kumimoji="1" lang="pt-BR" sz="2600" baseline="30000" dirty="0">
                  <a:solidFill>
                    <a:srgbClr val="FFFF00"/>
                  </a:solidFill>
                  <a:latin typeface="Tahoma" pitchFamily="34" charset="0"/>
                </a:rPr>
                <a:t>o</a:t>
              </a:r>
              <a:endParaRPr kumimoji="1" lang="pt-BR" sz="2600" dirty="0">
                <a:solidFill>
                  <a:srgbClr val="FFFF00"/>
                </a:solidFill>
                <a:latin typeface="Tahoma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361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Rotação 2D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36365"/>
            <a:ext cx="8229600" cy="4144963"/>
          </a:xfrm>
        </p:spPr>
        <p:txBody>
          <a:bodyPr/>
          <a:lstStyle/>
          <a:p>
            <a:endParaRPr lang="pt-BR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457200" y="1931565"/>
            <a:ext cx="8305800" cy="4419600"/>
            <a:chOff x="288" y="1056"/>
            <a:chExt cx="5232" cy="2784"/>
          </a:xfrm>
          <a:solidFill>
            <a:schemeClr val="bg2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88" y="1056"/>
              <a:ext cx="5232" cy="2784"/>
            </a:xfrm>
            <a:prstGeom prst="rect">
              <a:avLst/>
            </a:prstGeom>
            <a:grpFill/>
            <a:ln w="9525">
              <a:miter lim="800000"/>
              <a:headEnd/>
              <a:tailEnd/>
            </a:ln>
            <a:effectLst/>
            <a:scene3d>
              <a:camera prst="legacyObliqueTopLeft"/>
              <a:lightRig rig="legacyFlat3" dir="t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pt-BR"/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480" y="1200"/>
              <a:ext cx="0" cy="2496"/>
            </a:xfrm>
            <a:prstGeom prst="line">
              <a:avLst/>
            </a:prstGeom>
            <a:grp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480" y="3696"/>
              <a:ext cx="4800" cy="0"/>
            </a:xfrm>
            <a:prstGeom prst="line">
              <a:avLst/>
            </a:prstGeom>
            <a:grpFill/>
            <a:ln w="19050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640" y="2400"/>
              <a:ext cx="1200" cy="864"/>
            </a:xfrm>
            <a:prstGeom prst="rect">
              <a:avLst/>
            </a:prstGeom>
            <a:grp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 rot="-1126290">
              <a:off x="1728" y="1392"/>
              <a:ext cx="1200" cy="864"/>
            </a:xfrm>
            <a:prstGeom prst="rect">
              <a:avLst/>
            </a:prstGeom>
            <a:grpFill/>
            <a:ln w="2857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Line 10"/>
            <p:cNvSpPr>
              <a:spLocks noChangeShapeType="1"/>
            </p:cNvSpPr>
            <p:nvPr/>
          </p:nvSpPr>
          <p:spPr bwMode="auto">
            <a:xfrm flipV="1">
              <a:off x="480" y="3264"/>
              <a:ext cx="2160" cy="432"/>
            </a:xfrm>
            <a:prstGeom prst="line">
              <a:avLst/>
            </a:prstGeom>
            <a:grpFill/>
            <a:ln w="2857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Line 11"/>
            <p:cNvSpPr>
              <a:spLocks noChangeShapeType="1"/>
            </p:cNvSpPr>
            <p:nvPr/>
          </p:nvSpPr>
          <p:spPr bwMode="auto">
            <a:xfrm flipV="1">
              <a:off x="480" y="2400"/>
              <a:ext cx="1440" cy="1296"/>
            </a:xfrm>
            <a:prstGeom prst="line">
              <a:avLst/>
            </a:prstGeom>
            <a:grpFill/>
            <a:ln w="28575">
              <a:solidFill>
                <a:srgbClr val="FF0000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49712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Reflexão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É o ato de espelhar o pontos do outro lado dos eixos X e/ou Y</a:t>
            </a:r>
          </a:p>
          <a:p>
            <a:pPr lvl="1"/>
            <a:r>
              <a:rPr lang="pt-BR" dirty="0" smtClean="0"/>
              <a:t>Reflexão em X</a:t>
            </a:r>
          </a:p>
          <a:p>
            <a:pPr lvl="2"/>
            <a:r>
              <a:rPr lang="pt-BR" sz="2000" b="1" dirty="0" smtClean="0"/>
              <a:t>x</a:t>
            </a:r>
            <a:r>
              <a:rPr lang="pt-BR" sz="2000" b="1" dirty="0"/>
              <a:t>’ = -x </a:t>
            </a:r>
          </a:p>
          <a:p>
            <a:pPr lvl="1"/>
            <a:r>
              <a:rPr lang="pt-BR" dirty="0"/>
              <a:t>Reflexão em </a:t>
            </a:r>
            <a:r>
              <a:rPr lang="pt-BR" dirty="0" smtClean="0"/>
              <a:t>Y</a:t>
            </a:r>
          </a:p>
          <a:p>
            <a:pPr lvl="2"/>
            <a:r>
              <a:rPr lang="pt-BR" sz="2000" b="1" dirty="0"/>
              <a:t>y’ = y</a:t>
            </a:r>
            <a:endParaRPr lang="pt-BR" sz="2000" b="1" dirty="0" smtClean="0"/>
          </a:p>
          <a:p>
            <a:pPr lvl="1"/>
            <a:r>
              <a:rPr lang="pt-BR" dirty="0"/>
              <a:t>Reflexão em </a:t>
            </a:r>
            <a:r>
              <a:rPr lang="pt-BR" dirty="0" smtClean="0"/>
              <a:t>X e Y</a:t>
            </a:r>
          </a:p>
          <a:p>
            <a:pPr lvl="2"/>
            <a:r>
              <a:rPr lang="pt-BR" sz="2000" b="1" dirty="0"/>
              <a:t>x’ = -x </a:t>
            </a:r>
            <a:r>
              <a:rPr lang="pt-BR" sz="2000" b="1" dirty="0" smtClean="0"/>
              <a:t>e y</a:t>
            </a:r>
            <a:r>
              <a:rPr lang="pt-BR" sz="2000" b="1" dirty="0"/>
              <a:t>’ = y</a:t>
            </a:r>
          </a:p>
          <a:p>
            <a:r>
              <a:rPr lang="pt-BR" dirty="0" smtClean="0"/>
              <a:t>Matricialmente</a:t>
            </a:r>
            <a:endParaRPr lang="pt-BR" dirty="0"/>
          </a:p>
          <a:p>
            <a:pPr lvl="1"/>
            <a:r>
              <a:rPr lang="pt-BR" sz="2000" b="1" dirty="0" smtClean="0"/>
              <a:t>P</a:t>
            </a:r>
            <a:r>
              <a:rPr lang="pt-BR" sz="2000" b="1" dirty="0"/>
              <a:t>'= T ⋅ P </a:t>
            </a:r>
          </a:p>
          <a:p>
            <a:endParaRPr lang="pt-BR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564904"/>
            <a:ext cx="5977739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661248"/>
            <a:ext cx="7357160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5436096" y="5229200"/>
            <a:ext cx="1507849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pt-BR" dirty="0" smtClean="0"/>
              <a:t>Reflexão em X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3779912" y="5661248"/>
            <a:ext cx="1658695" cy="115212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81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Sistemas de Coordenadas Homogêneas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Todas as transformações apresentadas, exceto a translação são representadas como multiplicações de </a:t>
            </a:r>
            <a:r>
              <a:rPr lang="pt-BR" dirty="0" smtClean="0"/>
              <a:t>matrizes</a:t>
            </a:r>
            <a:r>
              <a:rPr lang="pt-BR" dirty="0"/>
              <a:t>. </a:t>
            </a:r>
            <a:r>
              <a:rPr lang="pt-BR" dirty="0" smtClean="0"/>
              <a:t>É </a:t>
            </a:r>
            <a:r>
              <a:rPr lang="pt-BR" dirty="0"/>
              <a:t>comum fazer a combinações de várias transformações em uma </a:t>
            </a:r>
            <a:r>
              <a:rPr lang="pt-BR" dirty="0" smtClean="0"/>
              <a:t>única </a:t>
            </a:r>
            <a:r>
              <a:rPr lang="pt-BR" dirty="0"/>
              <a:t>matriz. </a:t>
            </a:r>
            <a:endParaRPr lang="pt-BR" dirty="0" smtClean="0"/>
          </a:p>
          <a:p>
            <a:r>
              <a:rPr lang="pt-BR" dirty="0" smtClean="0"/>
              <a:t>Como </a:t>
            </a:r>
            <a:r>
              <a:rPr lang="pt-BR" dirty="0"/>
              <a:t>a translação está presente em quase todas as transformações, é fundamental que ela </a:t>
            </a:r>
            <a:r>
              <a:rPr lang="pt-BR" dirty="0" smtClean="0"/>
              <a:t>possa </a:t>
            </a:r>
            <a:r>
              <a:rPr lang="pt-BR" dirty="0"/>
              <a:t>ser representada por meio de multiplicação de matrizes. </a:t>
            </a:r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/>
              <a:t>isso introduziu-se o conceito de </a:t>
            </a:r>
            <a:r>
              <a:rPr lang="pt-BR" dirty="0" smtClean="0"/>
              <a:t>coordenadas homogêneas</a:t>
            </a:r>
            <a:r>
              <a:rPr lang="pt-BR" dirty="0"/>
              <a:t>, que </a:t>
            </a:r>
            <a:r>
              <a:rPr lang="pt-BR" dirty="0" smtClean="0"/>
              <a:t>consiste </a:t>
            </a:r>
            <a:r>
              <a:rPr lang="pt-BR" dirty="0"/>
              <a:t>em adicionar mais uma dimensão à matriz. 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53567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Para que seja adicionado mais uma dimensão, cada </a:t>
            </a:r>
            <a:r>
              <a:rPr lang="pt-BR" dirty="0"/>
              <a:t>ponto 2D é representado por </a:t>
            </a:r>
            <a:r>
              <a:rPr lang="pt-BR" b="1" i="1" dirty="0"/>
              <a:t>(</a:t>
            </a:r>
            <a:r>
              <a:rPr lang="pt-BR" b="1" i="1" dirty="0" err="1"/>
              <a:t>x,y,h</a:t>
            </a:r>
            <a:r>
              <a:rPr lang="pt-BR" b="1" i="1" dirty="0"/>
              <a:t>)</a:t>
            </a:r>
            <a:r>
              <a:rPr lang="pt-BR" dirty="0"/>
              <a:t>. </a:t>
            </a:r>
            <a:endParaRPr lang="pt-BR" dirty="0" smtClean="0"/>
          </a:p>
          <a:p>
            <a:pPr lvl="1"/>
            <a:r>
              <a:rPr lang="pt-BR" dirty="0"/>
              <a:t>para qualquer </a:t>
            </a:r>
            <a:r>
              <a:rPr lang="pt-BR" b="1" i="1" dirty="0" smtClean="0"/>
              <a:t>h </a:t>
            </a:r>
            <a:r>
              <a:rPr lang="pt-BR" b="1" i="1" dirty="0"/>
              <a:t>&lt;&gt; 0</a:t>
            </a:r>
            <a:r>
              <a:rPr lang="pt-BR" dirty="0"/>
              <a:t>, onde </a:t>
            </a:r>
            <a:r>
              <a:rPr lang="pt-BR" b="1" i="1" dirty="0" smtClean="0"/>
              <a:t>h</a:t>
            </a:r>
            <a:r>
              <a:rPr lang="pt-BR" dirty="0" smtClean="0"/>
              <a:t> </a:t>
            </a:r>
            <a:r>
              <a:rPr lang="pt-BR" dirty="0"/>
              <a:t>é o fator de escala </a:t>
            </a:r>
            <a:endParaRPr lang="pt-BR" dirty="0" smtClean="0"/>
          </a:p>
          <a:p>
            <a:pPr lvl="2"/>
            <a:r>
              <a:rPr lang="pt-BR" sz="2000" b="1" i="1" dirty="0" smtClean="0"/>
              <a:t>x </a:t>
            </a:r>
            <a:r>
              <a:rPr lang="pt-BR" sz="2000" b="1" i="1" dirty="0"/>
              <a:t>= x</a:t>
            </a:r>
            <a:r>
              <a:rPr lang="pt-BR" sz="2000" b="1" i="1" dirty="0" smtClean="0"/>
              <a:t>/h</a:t>
            </a:r>
            <a:r>
              <a:rPr lang="pt-BR" sz="2000" dirty="0" smtClean="0"/>
              <a:t> </a:t>
            </a:r>
          </a:p>
          <a:p>
            <a:pPr lvl="2"/>
            <a:r>
              <a:rPr lang="pt-BR" sz="2000" b="1" i="1" dirty="0" smtClean="0"/>
              <a:t>y </a:t>
            </a:r>
            <a:r>
              <a:rPr lang="pt-BR" sz="2000" b="1" i="1" dirty="0"/>
              <a:t>= y</a:t>
            </a:r>
            <a:r>
              <a:rPr lang="pt-BR" sz="2000" b="1" i="1" dirty="0" smtClean="0"/>
              <a:t>/h</a:t>
            </a:r>
            <a:endParaRPr lang="pt-BR" sz="2000" b="1" i="1" dirty="0"/>
          </a:p>
          <a:p>
            <a:pPr lvl="1"/>
            <a:r>
              <a:rPr lang="pt-BR" dirty="0" smtClean="0"/>
              <a:t>Assim</a:t>
            </a:r>
            <a:r>
              <a:rPr lang="pt-BR" dirty="0"/>
              <a:t>, o ponto (2, 3, 6) e (4, 6, 12) representam a mesma </a:t>
            </a:r>
            <a:r>
              <a:rPr lang="pt-BR" dirty="0" smtClean="0"/>
              <a:t>informação. </a:t>
            </a:r>
          </a:p>
          <a:p>
            <a:pPr lvl="1"/>
            <a:r>
              <a:rPr lang="pt-BR" dirty="0" smtClean="0"/>
              <a:t>Este </a:t>
            </a:r>
            <a:r>
              <a:rPr lang="pt-BR" dirty="0"/>
              <a:t>processo é chamado de </a:t>
            </a:r>
            <a:r>
              <a:rPr lang="pt-BR" dirty="0" err="1" smtClean="0"/>
              <a:t>homogenização</a:t>
            </a:r>
            <a:endParaRPr lang="pt-BR" dirty="0"/>
          </a:p>
          <a:p>
            <a:pPr lvl="1"/>
            <a:r>
              <a:rPr lang="pt-BR" dirty="0"/>
              <a:t>Neste caso, </a:t>
            </a:r>
            <a:r>
              <a:rPr lang="pt-BR" b="1" i="1" dirty="0"/>
              <a:t>x/h </a:t>
            </a:r>
            <a:r>
              <a:rPr lang="pt-BR" dirty="0"/>
              <a:t>e </a:t>
            </a:r>
            <a:r>
              <a:rPr lang="pt-BR" b="1" i="1" dirty="0"/>
              <a:t>y/h </a:t>
            </a:r>
            <a:r>
              <a:rPr lang="pt-BR" dirty="0"/>
              <a:t>são as coordenadas cartesianas do ponto </a:t>
            </a:r>
            <a:r>
              <a:rPr lang="pt-BR" dirty="0" smtClean="0"/>
              <a:t>homogêneo</a:t>
            </a:r>
            <a:r>
              <a:rPr lang="pt-BR" dirty="0"/>
              <a:t>. </a:t>
            </a:r>
            <a:endParaRPr lang="pt-BR" dirty="0" smtClean="0"/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147053"/>
            <a:ext cx="2596452" cy="78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251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terceira coordenada do ponto pode ser interpretada geometricamente como um plano </a:t>
            </a:r>
            <a:r>
              <a:rPr lang="pt-BR" b="1" i="1" dirty="0"/>
              <a:t>h=1</a:t>
            </a:r>
            <a:r>
              <a:rPr lang="pt-BR" dirty="0"/>
              <a:t> no </a:t>
            </a:r>
            <a:r>
              <a:rPr lang="pt-BR" b="1" i="1" dirty="0"/>
              <a:t>R</a:t>
            </a:r>
            <a:r>
              <a:rPr lang="pt-BR" b="1" i="1" baseline="30000" dirty="0"/>
              <a:t>3</a:t>
            </a:r>
            <a:r>
              <a:rPr lang="pt-BR" dirty="0"/>
              <a:t>, como mostrado na figura. </a:t>
            </a:r>
            <a:endParaRPr lang="pt-BR" dirty="0" smtClean="0"/>
          </a:p>
          <a:p>
            <a:r>
              <a:rPr lang="pt-BR" dirty="0" smtClean="0"/>
              <a:t>O </a:t>
            </a:r>
            <a:r>
              <a:rPr lang="pt-BR" dirty="0"/>
              <a:t>ponto </a:t>
            </a:r>
            <a:r>
              <a:rPr lang="pt-BR" b="1" i="1" dirty="0"/>
              <a:t>P’=(x/h, y/h) </a:t>
            </a:r>
            <a:r>
              <a:rPr lang="pt-BR" dirty="0"/>
              <a:t>é a projeção do ponto </a:t>
            </a:r>
            <a:r>
              <a:rPr lang="pt-BR" b="1" i="1" dirty="0"/>
              <a:t>P(x, y, h)</a:t>
            </a:r>
            <a:r>
              <a:rPr lang="pt-BR" dirty="0"/>
              <a:t> no plano </a:t>
            </a:r>
            <a:r>
              <a:rPr lang="pt-BR" b="1" i="1" dirty="0"/>
              <a:t>h=1</a:t>
            </a:r>
            <a:r>
              <a:rPr lang="pt-BR" dirty="0"/>
              <a:t>. </a:t>
            </a:r>
            <a:endParaRPr lang="pt-BR" dirty="0" smtClean="0"/>
          </a:p>
          <a:p>
            <a:r>
              <a:rPr lang="pt-BR" dirty="0" smtClean="0"/>
              <a:t>Desta </a:t>
            </a:r>
            <a:r>
              <a:rPr lang="pt-BR" dirty="0"/>
              <a:t>forma, qualquer múltiplo do ponto </a:t>
            </a:r>
            <a:r>
              <a:rPr lang="pt-BR" b="1" i="1" dirty="0"/>
              <a:t>P</a:t>
            </a:r>
            <a:r>
              <a:rPr lang="pt-BR" dirty="0"/>
              <a:t> homogêneo representa o mesmo ponto. </a:t>
            </a:r>
          </a:p>
          <a:p>
            <a:endParaRPr lang="pt-BR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3635976"/>
            <a:ext cx="3528392" cy="317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70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Pode-se representar qualquer operação geométrica como uma matriz 3x3 </a:t>
            </a:r>
          </a:p>
          <a:p>
            <a:r>
              <a:rPr lang="pt-BR" dirty="0"/>
              <a:t>Pode-se realizar toda operação geométrica sobre um ponto como uma multiplicação de matrizes, onde uma é o ponto e a outra a matriz de transformação.</a:t>
            </a:r>
          </a:p>
          <a:p>
            <a:endParaRPr lang="pt-BR" dirty="0"/>
          </a:p>
        </p:txBody>
      </p:sp>
      <p:pic>
        <p:nvPicPr>
          <p:cNvPr id="4" name="Picture 4" descr="formula3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501008"/>
            <a:ext cx="6346129" cy="2716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90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parâmetros da matriz podem ser ajustados de forma a que represente as três operações:</a:t>
            </a:r>
          </a:p>
          <a:p>
            <a:endParaRPr lang="pt-BR" dirty="0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2771800" y="2348881"/>
            <a:ext cx="5557664" cy="4361482"/>
            <a:chOff x="576" y="96"/>
            <a:chExt cx="4512" cy="3984"/>
          </a:xfrm>
        </p:grpSpPr>
        <p:pic>
          <p:nvPicPr>
            <p:cNvPr id="5" name="Picture 5" descr="formula3-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96"/>
              <a:ext cx="4512" cy="3984"/>
            </a:xfrm>
            <a:prstGeom prst="rect">
              <a:avLst/>
            </a:prstGeom>
            <a:noFill/>
            <a:ln w="9525">
              <a:solidFill>
                <a:srgbClr val="ACACAC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672" y="128"/>
              <a:ext cx="100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200">
                  <a:solidFill>
                    <a:srgbClr val="FF9966"/>
                  </a:solidFill>
                  <a:latin typeface="Tahoma" pitchFamily="34" charset="0"/>
                </a:rPr>
                <a:t>Translação</a:t>
              </a: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624" y="2976"/>
              <a:ext cx="78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200">
                  <a:solidFill>
                    <a:srgbClr val="FF9966"/>
                  </a:solidFill>
                  <a:latin typeface="Tahoma" pitchFamily="34" charset="0"/>
                </a:rPr>
                <a:t>Rotação</a:t>
              </a: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24" y="1488"/>
              <a:ext cx="1359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>
                <a:spcBef>
                  <a:spcPct val="60000"/>
                </a:spcBef>
                <a:buClr>
                  <a:schemeClr val="tx1"/>
                </a:buClr>
              </a:pPr>
              <a:r>
                <a:rPr kumimoji="1" lang="pt-BR" sz="2200">
                  <a:solidFill>
                    <a:srgbClr val="FF9966"/>
                  </a:solidFill>
                  <a:latin typeface="Tahoma" pitchFamily="34" charset="0"/>
                </a:rPr>
                <a:t>Escalonamento</a:t>
              </a:r>
            </a:p>
          </p:txBody>
        </p:sp>
      </p:grpSp>
      <p:sp>
        <p:nvSpPr>
          <p:cNvPr id="9" name="CaixaDeTexto 1"/>
          <p:cNvSpPr txBox="1">
            <a:spLocks noChangeArrowheads="1"/>
          </p:cNvSpPr>
          <p:nvPr/>
        </p:nvSpPr>
        <p:spPr bwMode="auto">
          <a:xfrm>
            <a:off x="7034127" y="5589240"/>
            <a:ext cx="811045" cy="36933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sz="1800" b="1" dirty="0">
                <a:solidFill>
                  <a:srgbClr val="003399"/>
                </a:solidFill>
              </a:rPr>
              <a:t>SIN </a:t>
            </a:r>
            <a:r>
              <a:rPr lang="el-GR" sz="1800" b="1" dirty="0">
                <a:solidFill>
                  <a:srgbClr val="003399"/>
                </a:solidFill>
              </a:rPr>
              <a:t>Θ</a:t>
            </a:r>
            <a:endParaRPr lang="pt-BR" sz="1800" b="1" dirty="0">
              <a:solidFill>
                <a:srgbClr val="003399"/>
              </a:solidFill>
            </a:endParaRPr>
          </a:p>
        </p:txBody>
      </p:sp>
      <p:sp>
        <p:nvSpPr>
          <p:cNvPr id="10" name="CaixaDeTexto 11"/>
          <p:cNvSpPr txBox="1">
            <a:spLocks noChangeArrowheads="1"/>
          </p:cNvSpPr>
          <p:nvPr/>
        </p:nvSpPr>
        <p:spPr bwMode="auto">
          <a:xfrm>
            <a:off x="6038908" y="6011996"/>
            <a:ext cx="981364" cy="369332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sz="1800" b="1" dirty="0">
                <a:solidFill>
                  <a:srgbClr val="003399"/>
                </a:solidFill>
              </a:rPr>
              <a:t>-SIN </a:t>
            </a:r>
            <a:r>
              <a:rPr lang="el-GR" sz="1800" b="1" dirty="0">
                <a:solidFill>
                  <a:srgbClr val="003399"/>
                </a:solidFill>
              </a:rPr>
              <a:t>Θ</a:t>
            </a:r>
            <a:endParaRPr lang="pt-BR" sz="1800" b="1" dirty="0">
              <a:solidFill>
                <a:srgbClr val="0033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42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 definição permite a concatenação de operações de uma forma muito eficiente.</a:t>
            </a:r>
          </a:p>
          <a:p>
            <a:r>
              <a:rPr lang="pt-BR" dirty="0"/>
              <a:t>Como qualquer </a:t>
            </a:r>
            <a:r>
              <a:rPr lang="pt-BR" dirty="0" smtClean="0"/>
              <a:t>sequência </a:t>
            </a:r>
            <a:r>
              <a:rPr lang="pt-BR" dirty="0"/>
              <a:t>de operações lineares é sempre uma operação linear, podemos expressar qualquer </a:t>
            </a:r>
            <a:r>
              <a:rPr lang="pt-BR" dirty="0" smtClean="0"/>
              <a:t>sequência </a:t>
            </a:r>
            <a:r>
              <a:rPr lang="pt-BR" dirty="0"/>
              <a:t>de operações geométricas como uma única matriz, resultante da multiplicação das matrizes representando cada uma das operações. </a:t>
            </a:r>
          </a:p>
          <a:p>
            <a:r>
              <a:rPr lang="pt-BR" dirty="0"/>
              <a:t>Através disto calculamos uma única matriz, que utilizamos para transformar todos os pontos do objeto.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2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 Escalonamento dos pontos de um objeto pelo ponto </a:t>
            </a:r>
            <a:r>
              <a:rPr lang="pt-BR" b="1" dirty="0" err="1"/>
              <a:t>Sx</a:t>
            </a:r>
            <a:r>
              <a:rPr lang="pt-BR" b="1" dirty="0"/>
              <a:t> = </a:t>
            </a:r>
            <a:r>
              <a:rPr lang="pt-BR" b="1" dirty="0" err="1"/>
              <a:t>Sy</a:t>
            </a:r>
            <a:r>
              <a:rPr lang="pt-BR" b="1" dirty="0"/>
              <a:t> = 2 </a:t>
            </a:r>
            <a:r>
              <a:rPr lang="pt-BR" dirty="0"/>
              <a:t>seguido de uma translação pelo vetor </a:t>
            </a:r>
            <a:r>
              <a:rPr lang="pt-BR" b="1" dirty="0" err="1"/>
              <a:t>Dx</a:t>
            </a:r>
            <a:r>
              <a:rPr lang="pt-BR" b="1" dirty="0"/>
              <a:t> = 10</a:t>
            </a:r>
            <a:r>
              <a:rPr lang="pt-BR" dirty="0"/>
              <a:t> e </a:t>
            </a:r>
            <a:r>
              <a:rPr lang="pt-BR" b="1" dirty="0" err="1"/>
              <a:t>Dy</a:t>
            </a:r>
            <a:r>
              <a:rPr lang="pt-BR" b="1" dirty="0"/>
              <a:t> = 0</a:t>
            </a:r>
          </a:p>
          <a:p>
            <a:endParaRPr lang="pt-BR" dirty="0"/>
          </a:p>
        </p:txBody>
      </p:sp>
      <p:pic>
        <p:nvPicPr>
          <p:cNvPr id="4" name="Picture 4" descr="formula3-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72" y="2756709"/>
            <a:ext cx="4262357" cy="3945640"/>
          </a:xfrm>
          <a:prstGeom prst="rect">
            <a:avLst/>
          </a:prstGeom>
          <a:noFill/>
          <a:ln w="9525">
            <a:solidFill>
              <a:srgbClr val="ACACA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4499992" y="2756708"/>
            <a:ext cx="4644008" cy="3945641"/>
            <a:chOff x="576" y="576"/>
            <a:chExt cx="4625" cy="3481"/>
          </a:xfrm>
        </p:grpSpPr>
        <p:pic>
          <p:nvPicPr>
            <p:cNvPr id="6" name="Picture 6" descr="formula3-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576"/>
              <a:ext cx="4625" cy="3481"/>
            </a:xfrm>
            <a:prstGeom prst="rect">
              <a:avLst/>
            </a:prstGeom>
            <a:noFill/>
            <a:ln w="9525">
              <a:solidFill>
                <a:srgbClr val="ACACAC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AutoShape 7"/>
            <p:cNvSpPr>
              <a:spLocks noChangeArrowheads="1"/>
            </p:cNvSpPr>
            <p:nvPr/>
          </p:nvSpPr>
          <p:spPr bwMode="auto">
            <a:xfrm>
              <a:off x="1728" y="2016"/>
              <a:ext cx="384" cy="672"/>
            </a:xfrm>
            <a:prstGeom prst="downArrow">
              <a:avLst>
                <a:gd name="adj1" fmla="val 50000"/>
                <a:gd name="adj2" fmla="val 43750"/>
              </a:avLst>
            </a:prstGeom>
            <a:noFill/>
            <a:ln w="28575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81320" dir="2319588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9613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Sistemas de Coordenadas Homogêneas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Isto é muito importante na rotação.</a:t>
            </a:r>
          </a:p>
          <a:p>
            <a:r>
              <a:rPr lang="pt-BR" dirty="0"/>
              <a:t>Se quisermos </a:t>
            </a:r>
            <a:r>
              <a:rPr lang="pt-BR" dirty="0" err="1"/>
              <a:t>rotacionar</a:t>
            </a:r>
            <a:r>
              <a:rPr lang="pt-BR" dirty="0"/>
              <a:t> um objeto em torno de um ponto qualquer (por exemplo, seu próprio centro, que é a forma mais intuitiva de se rodar algo), necessitamos:</a:t>
            </a:r>
          </a:p>
          <a:p>
            <a:pPr lvl="1"/>
            <a:r>
              <a:rPr lang="pt-BR" dirty="0"/>
              <a:t>Transladar o ponto sobre o qual será efetuada a rotação para a origem</a:t>
            </a:r>
          </a:p>
          <a:p>
            <a:pPr lvl="1"/>
            <a:r>
              <a:rPr lang="pt-BR" dirty="0" err="1"/>
              <a:t>Rotacionar</a:t>
            </a:r>
            <a:endParaRPr lang="pt-BR" dirty="0"/>
          </a:p>
          <a:p>
            <a:pPr lvl="1"/>
            <a:r>
              <a:rPr lang="pt-BR" dirty="0"/>
              <a:t>Transladar de volta à posição original</a:t>
            </a:r>
          </a:p>
          <a:p>
            <a:endParaRPr lang="pt-BR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3913639"/>
            <a:ext cx="4633962" cy="268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125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8A3F57-EA0B-4D95-B43F-9B9734869696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0814E3-088E-4994-BDA1-4B65B7CC541E}" type="slidenum">
              <a:rPr lang="pt-BR"/>
              <a:pPr>
                <a:defRPr/>
              </a:pPr>
              <a:t>37</a:t>
            </a:fld>
            <a:endParaRPr lang="pt-BR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Sistemas de Coordenadas Homogêneos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dirty="0" smtClean="0"/>
              <a:t>Para isso podemos calcular uma única matriz de rotação concatenada:</a:t>
            </a:r>
          </a:p>
          <a:p>
            <a:pPr eaLnBrk="1" hangingPunct="1">
              <a:buFont typeface="Wingdings" pitchFamily="2" charset="2"/>
              <a:buNone/>
            </a:pPr>
            <a:endParaRPr lang="pt-BR" sz="3200" dirty="0" smtClean="0"/>
          </a:p>
        </p:txBody>
      </p:sp>
      <p:pic>
        <p:nvPicPr>
          <p:cNvPr id="206852" name="Picture 4" descr="formula3-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" y="5032201"/>
            <a:ext cx="9010650" cy="1781175"/>
          </a:xfrm>
          <a:prstGeom prst="rect">
            <a:avLst/>
          </a:prstGeom>
          <a:noFill/>
          <a:ln w="9525">
            <a:solidFill>
              <a:srgbClr val="ACACAC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631" name="CaixaDeTexto 6"/>
          <p:cNvSpPr txBox="1">
            <a:spLocks noChangeArrowheads="1"/>
          </p:cNvSpPr>
          <p:nvPr/>
        </p:nvSpPr>
        <p:spPr bwMode="auto">
          <a:xfrm>
            <a:off x="6084888" y="5281439"/>
            <a:ext cx="863600" cy="36988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sz="1800" b="1">
                <a:solidFill>
                  <a:srgbClr val="003399"/>
                </a:solidFill>
              </a:rPr>
              <a:t>SIN </a:t>
            </a:r>
            <a:r>
              <a:rPr lang="el-GR" sz="1800" b="1">
                <a:solidFill>
                  <a:srgbClr val="003399"/>
                </a:solidFill>
              </a:rPr>
              <a:t>Θ</a:t>
            </a:r>
            <a:endParaRPr lang="pt-BR" sz="1800" b="1">
              <a:solidFill>
                <a:srgbClr val="003399"/>
              </a:solidFill>
            </a:endParaRPr>
          </a:p>
        </p:txBody>
      </p:sp>
      <p:sp>
        <p:nvSpPr>
          <p:cNvPr id="26632" name="CaixaDeTexto 7"/>
          <p:cNvSpPr txBox="1">
            <a:spLocks noChangeArrowheads="1"/>
          </p:cNvSpPr>
          <p:nvPr/>
        </p:nvSpPr>
        <p:spPr bwMode="auto">
          <a:xfrm>
            <a:off x="5292725" y="5827539"/>
            <a:ext cx="935038" cy="368300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sz="1800" b="1">
                <a:solidFill>
                  <a:srgbClr val="003399"/>
                </a:solidFill>
              </a:rPr>
              <a:t>-SIN </a:t>
            </a:r>
            <a:r>
              <a:rPr lang="el-GR" sz="1800" b="1">
                <a:solidFill>
                  <a:srgbClr val="003399"/>
                </a:solidFill>
              </a:rPr>
              <a:t>Θ</a:t>
            </a:r>
            <a:endParaRPr lang="pt-BR" sz="1800" b="1">
              <a:solidFill>
                <a:srgbClr val="003399"/>
              </a:solidFill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403" y="2429421"/>
            <a:ext cx="4212693" cy="2439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81320" dir="2319588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581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685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Determinando o centro do objeto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/>
              <a:t>O centro geométrico de uma distribuição de pontos de coordenadas (x,y), pode ser conseguido com: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52CB17-F540-4399-95CB-564155C0AF9C}" type="datetime1">
              <a:rPr lang="pt-BR" smtClean="0"/>
              <a:pPr>
                <a:defRPr/>
              </a:pPr>
              <a:t>09/09/2014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123660-BD7E-4247-A546-20368B47C846}" type="slidenum">
              <a:rPr lang="pt-BR" smtClean="0"/>
              <a:pPr>
                <a:defRPr/>
              </a:pPr>
              <a:t>38</a:t>
            </a:fld>
            <a:endParaRPr lang="pt-BR" dirty="0"/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013" y="2996952"/>
            <a:ext cx="2743200" cy="11826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094" y="2996951"/>
            <a:ext cx="2762250" cy="118268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449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Reflexão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/>
              <a:t>A operação para realizar a reflexão em torno do eixo X é dada por: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52CB17-F540-4399-95CB-564155C0AF9C}" type="datetime1">
              <a:rPr lang="pt-BR" smtClean="0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A3D729-9A12-4CB8-B821-5910602534D2}" type="slidenum">
              <a:rPr lang="pt-BR" smtClean="0"/>
              <a:pPr>
                <a:defRPr/>
              </a:pPr>
              <a:t>39</a:t>
            </a:fld>
            <a:endParaRPr lang="pt-BR"/>
          </a:p>
        </p:txBody>
      </p:sp>
      <p:pic>
        <p:nvPicPr>
          <p:cNvPr id="286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5422" y="4206590"/>
            <a:ext cx="2985794" cy="26067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708920"/>
            <a:ext cx="5621231" cy="136815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64198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Reflexão</a:t>
            </a:r>
          </a:p>
        </p:txBody>
      </p:sp>
      <p:sp>
        <p:nvSpPr>
          <p:cNvPr id="29699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/>
              <a:t>A operação para realizar a reflexão em torno do eixo Y é dada por: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52CB17-F540-4399-95CB-564155C0AF9C}" type="datetime1">
              <a:rPr lang="pt-BR" smtClean="0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63319-E86B-4255-97B2-C1A4F0DED31F}" type="slidenum">
              <a:rPr lang="pt-BR" smtClean="0"/>
              <a:pPr>
                <a:defRPr/>
              </a:pPr>
              <a:t>40</a:t>
            </a:fld>
            <a:endParaRPr lang="pt-BR"/>
          </a:p>
        </p:txBody>
      </p:sp>
      <p:pic>
        <p:nvPicPr>
          <p:cNvPr id="2970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221088"/>
            <a:ext cx="4234218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564904"/>
            <a:ext cx="5325377" cy="129614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8225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Reflexão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mtClean="0"/>
              <a:t>A operação para realizar a reflexão através da origem é dada por: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752CB17-F540-4399-95CB-564155C0AF9C}" type="datetime1">
              <a:rPr lang="pt-BR" smtClean="0"/>
              <a:pPr>
                <a:defRPr/>
              </a:pPr>
              <a:t>09/09/2014</a:t>
            </a:fld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D1E624-B884-4FCD-9338-BDE5AEEF3DF1}" type="slidenum">
              <a:rPr lang="pt-BR" smtClean="0"/>
              <a:pPr>
                <a:defRPr/>
              </a:pPr>
              <a:t>41</a:t>
            </a:fld>
            <a:endParaRPr lang="pt-BR" dirty="0"/>
          </a:p>
        </p:txBody>
      </p:sp>
      <p:pic>
        <p:nvPicPr>
          <p:cNvPr id="307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072" y="4149080"/>
            <a:ext cx="3477080" cy="2605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52" y="2646753"/>
            <a:ext cx="5733920" cy="132548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2469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Data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BBD320F-ED04-4469-94F1-261CDF35C19C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34A6C3-3FEA-48CB-ADF3-3B78B705CDCB}" type="slidenum">
              <a:rPr lang="pt-BR"/>
              <a:pPr>
                <a:defRPr/>
              </a:pPr>
              <a:t>42</a:t>
            </a:fld>
            <a:endParaRPr lang="pt-BR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Multiplicação de Matrizes</a:t>
            </a:r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2514600" y="2852738"/>
            <a:ext cx="6378575" cy="1800225"/>
          </a:xfrm>
        </p:spPr>
        <p:txBody>
          <a:bodyPr>
            <a:noAutofit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pt-BR" sz="2400" dirty="0" smtClean="0">
                <a:solidFill>
                  <a:schemeClr val="bg1"/>
                </a:solidFill>
              </a:rPr>
              <a:t>c(1,1) = a(1,1) * b(1,1) + a(1,2)*b(2,1)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pt-BR" sz="2400" dirty="0" smtClean="0">
                <a:solidFill>
                  <a:schemeClr val="bg1"/>
                </a:solidFill>
              </a:rPr>
              <a:t>c(1,2) = a(1,1) * b(1,2) + a(1,2)*b(2,2)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pt-BR" sz="2400" dirty="0" smtClean="0">
                <a:solidFill>
                  <a:schemeClr val="bg2">
                    <a:lumMod val="10000"/>
                  </a:schemeClr>
                </a:solidFill>
              </a:rPr>
              <a:t>c(2,1) = a(2,1) * b(1,1) + a(2,2)*b(2,1)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pt-BR" sz="2400" dirty="0" smtClean="0">
                <a:solidFill>
                  <a:schemeClr val="bg2">
                    <a:lumMod val="10000"/>
                  </a:schemeClr>
                </a:solidFill>
              </a:rPr>
              <a:t>c(2,2) = a(2,1) * b(1,2) + a(2,2)*b(2,2)</a:t>
            </a:r>
          </a:p>
        </p:txBody>
      </p:sp>
      <p:sp>
        <p:nvSpPr>
          <p:cNvPr id="31750" name="Rectangle 6"/>
          <p:cNvSpPr>
            <a:spLocks noChangeArrowheads="1"/>
          </p:cNvSpPr>
          <p:nvPr/>
        </p:nvSpPr>
        <p:spPr bwMode="auto">
          <a:xfrm>
            <a:off x="2555875" y="4867101"/>
            <a:ext cx="6400800" cy="1946275"/>
          </a:xfrm>
          <a:prstGeom prst="rect">
            <a:avLst/>
          </a:prstGeom>
          <a:solidFill>
            <a:schemeClr val="bg1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lIns="92075" tIns="46038" rIns="92075" bIns="46038"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c(</a:t>
            </a:r>
            <a:r>
              <a:rPr lang="pt-BR" sz="2800" dirty="0" err="1">
                <a:latin typeface="Arial" charset="0"/>
              </a:rPr>
              <a:t>l,c</a:t>
            </a:r>
            <a:r>
              <a:rPr lang="pt-BR" sz="2800" dirty="0">
                <a:latin typeface="Arial" charset="0"/>
              </a:rPr>
              <a:t>) = a(l,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>
                <a:latin typeface="Arial" charset="0"/>
              </a:rPr>
              <a:t>) * b(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>
                <a:latin typeface="Arial" charset="0"/>
              </a:rPr>
              <a:t>,c) + a(l,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>
                <a:latin typeface="Arial" charset="0"/>
              </a:rPr>
              <a:t>)*b(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>
                <a:latin typeface="Arial" charset="0"/>
              </a:rPr>
              <a:t>,c)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c(</a:t>
            </a:r>
            <a:r>
              <a:rPr lang="pt-BR" sz="2800" dirty="0" err="1">
                <a:latin typeface="Arial" charset="0"/>
              </a:rPr>
              <a:t>l,c</a:t>
            </a:r>
            <a:r>
              <a:rPr lang="pt-BR" sz="2800" dirty="0">
                <a:latin typeface="Arial" charset="0"/>
              </a:rPr>
              <a:t>) = a(l,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>
                <a:latin typeface="Arial" charset="0"/>
              </a:rPr>
              <a:t>) * b(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>
                <a:latin typeface="Arial" charset="0"/>
              </a:rPr>
              <a:t>,c) + a(l,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>
                <a:latin typeface="Arial" charset="0"/>
              </a:rPr>
              <a:t>)*b(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>
                <a:latin typeface="Arial" charset="0"/>
              </a:rPr>
              <a:t>,c)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c(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l,c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=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a(l,</a:t>
            </a:r>
            <a:r>
              <a:rPr lang="pt-BR" sz="2800" dirty="0" smtClean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*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b(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+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a(l,</a:t>
            </a:r>
            <a:r>
              <a:rPr lang="pt-BR" sz="2800" dirty="0" smtClean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)*b(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c(</a:t>
            </a:r>
            <a:r>
              <a:rPr lang="pt-BR" sz="28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l,c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=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a(l,</a:t>
            </a:r>
            <a:r>
              <a:rPr lang="pt-BR" sz="2800" dirty="0" smtClean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*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b(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 + 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a(l,</a:t>
            </a:r>
            <a:r>
              <a:rPr lang="pt-BR" sz="2800" dirty="0" smtClean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)*b(</a:t>
            </a:r>
            <a:r>
              <a:rPr lang="pt-BR" sz="2800" dirty="0">
                <a:solidFill>
                  <a:schemeClr val="accent2"/>
                </a:solidFill>
                <a:latin typeface="Arial" charset="0"/>
              </a:rPr>
              <a:t>2</a:t>
            </a:r>
            <a:r>
              <a:rPr lang="pt-BR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,c</a:t>
            </a:r>
            <a:r>
              <a:rPr lang="pt-BR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</a:rPr>
              <a:t>)</a:t>
            </a:r>
          </a:p>
        </p:txBody>
      </p:sp>
      <p:graphicFrame>
        <p:nvGraphicFramePr>
          <p:cNvPr id="31751" name="Object 7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4781873"/>
              </p:ext>
            </p:extLst>
          </p:nvPr>
        </p:nvGraphicFramePr>
        <p:xfrm>
          <a:off x="1835696" y="1484784"/>
          <a:ext cx="6732587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Equation" r:id="rId3" imgW="2641600" imgH="482600" progId="Equation.3">
                  <p:embed/>
                </p:oleObj>
              </mc:Choice>
              <mc:Fallback>
                <p:oleObj name="Equation" r:id="rId3" imgW="26416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484784"/>
                        <a:ext cx="6732587" cy="1231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0578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Data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D961FA6-946E-43D5-BCB0-088CB205CE42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6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BB8160-CAEA-4C41-B53D-05A1850C7BA6}" type="slidenum">
              <a:rPr lang="pt-BR"/>
              <a:pPr>
                <a:defRPr/>
              </a:pPr>
              <a:t>43</a:t>
            </a:fld>
            <a:endParaRPr lang="pt-BR"/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Multiplicação de Matrizes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58888" y="2852738"/>
            <a:ext cx="7634287" cy="3671887"/>
          </a:xfrm>
        </p:spPr>
        <p:txBody>
          <a:bodyPr>
            <a:normAutofit fontScale="92500" lnSpcReduction="10000"/>
          </a:bodyPr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/>
              <a:t>c(1,1) = a(1,1) * b(1,1) + a(1,2)*b(2,1) + a(1,3)*b(3,1)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/>
              <a:t>c(1,2) = a(1,1) * b(1,2) + a(1,2)*b(2,2) + a(1,3)*b(3,2)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/>
              <a:t>c(1,3) = a(1,1) * b(1,3) + a(1,2)*b(2,3) + a(1,3)*b(3,3)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rgbClr val="0070C0"/>
                </a:solidFill>
              </a:rPr>
              <a:t>c(2,1) = a(2,1) * b(1,1) + a(2,2)*b(2,1) + a(2,3)*b(3,1)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rgbClr val="0070C0"/>
                </a:solidFill>
              </a:rPr>
              <a:t>c(2,2) = a(2,1) * b(1,2) + a(2,2)*b(2,2) + a(2,3)*b(3,2)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rgbClr val="0070C0"/>
                </a:solidFill>
              </a:rPr>
              <a:t>c(2,3) = a(2,1) * b(1,3) + a(2,2)*b(2,3) + a(2,3)*b(3,3)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chemeClr val="accent1"/>
                </a:solidFill>
              </a:rPr>
              <a:t>c(3,1) = a(3,1) * b(1,1) + a(3,2)*b(2,1) + a(3,3)*b(3,1)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chemeClr val="accent1"/>
                </a:solidFill>
              </a:rPr>
              <a:t>c(3,2) = a(3,1) * b(1,2) + a(3,2)*b(2,2) + a(3,3)*b(3,2)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pt-BR" sz="2400" b="1" dirty="0" smtClean="0">
                <a:solidFill>
                  <a:schemeClr val="accent1"/>
                </a:solidFill>
              </a:rPr>
              <a:t>c(3,3) = a(3,1) * b(1,3) + a(3,2)*b(2,3) + a(3,3)*b(3,3)</a:t>
            </a:r>
          </a:p>
        </p:txBody>
      </p:sp>
      <p:graphicFrame>
        <p:nvGraphicFramePr>
          <p:cNvPr id="32774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27406215"/>
              </p:ext>
            </p:extLst>
          </p:nvPr>
        </p:nvGraphicFramePr>
        <p:xfrm>
          <a:off x="1835150" y="1484313"/>
          <a:ext cx="6159500" cy="123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Equation" r:id="rId3" imgW="3683000" imgH="736600" progId="Equation.3">
                  <p:embed/>
                </p:oleObj>
              </mc:Choice>
              <mc:Fallback>
                <p:oleObj name="Equation" r:id="rId3" imgW="36830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484313"/>
                        <a:ext cx="6159500" cy="12319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68899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Data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A2E4ED8-7682-43F1-964B-DE5A8D9A9039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13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FD1CEA-ADDC-4552-88D9-CB81CC96BBEF}" type="slidenum">
              <a:rPr lang="pt-BR"/>
              <a:pPr>
                <a:defRPr/>
              </a:pPr>
              <a:t>44</a:t>
            </a:fld>
            <a:endParaRPr lang="pt-BR"/>
          </a:p>
        </p:txBody>
      </p:sp>
      <p:sp>
        <p:nvSpPr>
          <p:cNvPr id="33796" name="Rectangle 8"/>
          <p:cNvSpPr>
            <a:spLocks noChangeArrowheads="1"/>
          </p:cNvSpPr>
          <p:nvPr/>
        </p:nvSpPr>
        <p:spPr bwMode="auto">
          <a:xfrm>
            <a:off x="2339975" y="2924175"/>
            <a:ext cx="6624638" cy="28813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for (l=1; l&lt;= </a:t>
            </a:r>
            <a:r>
              <a:rPr lang="pt-BR" sz="2800" b="1" dirty="0">
                <a:solidFill>
                  <a:srgbClr val="00B050"/>
                </a:solidFill>
                <a:latin typeface="Arial" charset="0"/>
              </a:rPr>
              <a:t>m</a:t>
            </a:r>
            <a:r>
              <a:rPr lang="pt-BR" sz="2800" dirty="0">
                <a:latin typeface="Arial" charset="0"/>
              </a:rPr>
              <a:t>; l++)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  for (c=1; c&lt;= </a:t>
            </a:r>
            <a:r>
              <a:rPr lang="pt-BR" sz="2800" dirty="0">
                <a:solidFill>
                  <a:srgbClr val="0070C0"/>
                </a:solidFill>
                <a:latin typeface="Arial" charset="0"/>
              </a:rPr>
              <a:t>k</a:t>
            </a:r>
            <a:r>
              <a:rPr lang="pt-BR" sz="2800" dirty="0">
                <a:latin typeface="Arial" charset="0"/>
              </a:rPr>
              <a:t>; c++){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    C(</a:t>
            </a:r>
            <a:r>
              <a:rPr lang="pt-BR" sz="2800" dirty="0" err="1">
                <a:latin typeface="Arial" charset="0"/>
              </a:rPr>
              <a:t>l,c</a:t>
            </a:r>
            <a:r>
              <a:rPr lang="pt-BR" sz="2800" dirty="0">
                <a:latin typeface="Arial" charset="0"/>
              </a:rPr>
              <a:t>) = 0;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    for (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pt-BR" sz="2800" dirty="0">
                <a:latin typeface="Arial" charset="0"/>
              </a:rPr>
              <a:t>=1; 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pt-BR" sz="2800" dirty="0" smtClean="0">
                <a:latin typeface="Arial" charset="0"/>
              </a:rPr>
              <a:t>&lt;= </a:t>
            </a:r>
            <a:r>
              <a:rPr lang="pt-BR" sz="2800" dirty="0">
                <a:solidFill>
                  <a:srgbClr val="0070C0"/>
                </a:solidFill>
                <a:latin typeface="Arial" charset="0"/>
              </a:rPr>
              <a:t>k</a:t>
            </a:r>
            <a:r>
              <a:rPr lang="pt-BR" sz="2800" dirty="0" smtClean="0">
                <a:latin typeface="Arial" charset="0"/>
              </a:rPr>
              <a:t>; 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x</a:t>
            </a:r>
            <a:r>
              <a:rPr lang="pt-BR" sz="2800" dirty="0" smtClean="0">
                <a:latin typeface="Arial" charset="0"/>
              </a:rPr>
              <a:t>++)</a:t>
            </a:r>
            <a:endParaRPr lang="pt-BR" sz="2800" dirty="0">
              <a:latin typeface="Arial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	      C(</a:t>
            </a:r>
            <a:r>
              <a:rPr lang="pt-BR" sz="2800" dirty="0" err="1">
                <a:latin typeface="Arial" charset="0"/>
              </a:rPr>
              <a:t>l,c</a:t>
            </a:r>
            <a:r>
              <a:rPr lang="pt-BR" sz="2800" dirty="0">
                <a:latin typeface="Arial" charset="0"/>
              </a:rPr>
              <a:t>) = C(</a:t>
            </a:r>
            <a:r>
              <a:rPr lang="pt-BR" sz="2800" dirty="0" err="1">
                <a:latin typeface="Arial" charset="0"/>
              </a:rPr>
              <a:t>l,c</a:t>
            </a:r>
            <a:r>
              <a:rPr lang="pt-BR" sz="2800" dirty="0">
                <a:latin typeface="Arial" charset="0"/>
              </a:rPr>
              <a:t>) + a(l</a:t>
            </a:r>
            <a:r>
              <a:rPr lang="pt-BR" sz="2800" dirty="0" smtClean="0">
                <a:latin typeface="Arial" charset="0"/>
              </a:rPr>
              <a:t>,</a:t>
            </a:r>
            <a:r>
              <a:rPr lang="pt-BR" sz="2800" dirty="0">
                <a:solidFill>
                  <a:srgbClr val="FF0000"/>
                </a:solidFill>
                <a:latin typeface="Arial" charset="0"/>
              </a:rPr>
              <a:t> x</a:t>
            </a:r>
            <a:r>
              <a:rPr lang="pt-BR" sz="2800" dirty="0" smtClean="0">
                <a:latin typeface="Arial" charset="0"/>
              </a:rPr>
              <a:t>) </a:t>
            </a:r>
            <a:r>
              <a:rPr lang="pt-BR" sz="2800" dirty="0">
                <a:latin typeface="Arial" charset="0"/>
              </a:rPr>
              <a:t>* </a:t>
            </a:r>
            <a:r>
              <a:rPr lang="pt-BR" sz="2800" dirty="0" smtClean="0">
                <a:latin typeface="Arial" charset="0"/>
              </a:rPr>
              <a:t>b(</a:t>
            </a:r>
            <a:r>
              <a:rPr lang="pt-BR" sz="2800" dirty="0" err="1">
                <a:solidFill>
                  <a:srgbClr val="FF0000"/>
                </a:solidFill>
                <a:latin typeface="Arial" charset="0"/>
              </a:rPr>
              <a:t>x</a:t>
            </a:r>
            <a:r>
              <a:rPr lang="pt-BR" sz="2800" dirty="0" err="1" smtClean="0">
                <a:latin typeface="Arial" charset="0"/>
              </a:rPr>
              <a:t>,c</a:t>
            </a:r>
            <a:r>
              <a:rPr lang="pt-BR" sz="2800" dirty="0">
                <a:latin typeface="Arial" charset="0"/>
              </a:rPr>
              <a:t>)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 dirty="0">
                <a:latin typeface="Arial" charset="0"/>
              </a:rPr>
              <a:t>  }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Multiplicação de Matrizes</a:t>
            </a:r>
          </a:p>
        </p:txBody>
      </p:sp>
      <p:sp>
        <p:nvSpPr>
          <p:cNvPr id="33798" name="Rectangle 7"/>
          <p:cNvSpPr>
            <a:spLocks noChangeArrowheads="1"/>
          </p:cNvSpPr>
          <p:nvPr/>
        </p:nvSpPr>
        <p:spPr bwMode="auto">
          <a:xfrm>
            <a:off x="827088" y="2349500"/>
            <a:ext cx="8137525" cy="503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marL="342900" indent="-342900" algn="ctr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pt-BR" sz="2800">
                <a:latin typeface="Arial" charset="0"/>
              </a:rPr>
              <a:t>c(l,c) = a(l,1) * b(1,c) + a(l,2)*b(2,c) + a(l,3)*b(3,c)</a:t>
            </a:r>
          </a:p>
        </p:txBody>
      </p:sp>
      <p:sp>
        <p:nvSpPr>
          <p:cNvPr id="33800" name="Text Box 18"/>
          <p:cNvSpPr txBox="1">
            <a:spLocks noChangeArrowheads="1"/>
          </p:cNvSpPr>
          <p:nvPr/>
        </p:nvSpPr>
        <p:spPr bwMode="auto">
          <a:xfrm>
            <a:off x="1019175" y="5867400"/>
            <a:ext cx="7967663" cy="9461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pt-BR" sz="2800" b="1" dirty="0">
                <a:solidFill>
                  <a:srgbClr val="FF0000"/>
                </a:solidFill>
              </a:rPr>
              <a:t>Obs. Para que isso seja possível os valores de </a:t>
            </a:r>
            <a:r>
              <a:rPr lang="pt-BR" sz="2800" b="1" i="1" dirty="0">
                <a:solidFill>
                  <a:srgbClr val="FF0000"/>
                </a:solidFill>
              </a:rPr>
              <a:t>n</a:t>
            </a:r>
            <a:r>
              <a:rPr lang="pt-BR" sz="2800" b="1" dirty="0">
                <a:solidFill>
                  <a:srgbClr val="FF0000"/>
                </a:solidFill>
              </a:rPr>
              <a:t> e </a:t>
            </a:r>
            <a:r>
              <a:rPr lang="pt-BR" sz="2800" b="1" i="1" dirty="0">
                <a:solidFill>
                  <a:srgbClr val="FF0000"/>
                </a:solidFill>
              </a:rPr>
              <a:t>k</a:t>
            </a:r>
            <a:r>
              <a:rPr lang="pt-BR" sz="2800" b="1" dirty="0">
                <a:solidFill>
                  <a:srgbClr val="FF0000"/>
                </a:solidFill>
              </a:rPr>
              <a:t> devem ser iguais</a:t>
            </a:r>
          </a:p>
        </p:txBody>
      </p:sp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0387" y="1429833"/>
            <a:ext cx="3590925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0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5E68818-F864-4B97-A7DF-471C523A9FF6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BA5BC2-70EC-4482-B5B0-5C970EAAE319}" type="slidenum">
              <a:rPr lang="pt-BR"/>
              <a:pPr>
                <a:defRPr/>
              </a:pPr>
              <a:t>45</a:t>
            </a:fld>
            <a:endParaRPr lang="pt-BR"/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Exercício</a:t>
            </a:r>
          </a:p>
        </p:txBody>
      </p:sp>
      <p:sp>
        <p:nvSpPr>
          <p:cNvPr id="348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Faça retas usando </a:t>
            </a:r>
            <a:r>
              <a:rPr lang="pt-BR" b="1" dirty="0" smtClean="0"/>
              <a:t>DDA</a:t>
            </a:r>
            <a:r>
              <a:rPr lang="pt-BR" dirty="0" smtClean="0"/>
              <a:t> </a:t>
            </a:r>
            <a:r>
              <a:rPr lang="pt-BR" dirty="0"/>
              <a:t>e </a:t>
            </a:r>
            <a:r>
              <a:rPr lang="pt-BR" b="1" dirty="0" err="1"/>
              <a:t>Bresenham</a:t>
            </a:r>
            <a:endParaRPr lang="pt-BR" b="1" dirty="0" smtClean="0"/>
          </a:p>
          <a:p>
            <a:pPr eaLnBrk="1" hangingPunct="1"/>
            <a:r>
              <a:rPr lang="pt-BR" dirty="0" smtClean="0"/>
              <a:t>Coloque as 3 transformações básicas no sistema e as transformações usando coordenadas homogêneas</a:t>
            </a:r>
          </a:p>
          <a:p>
            <a:pPr eaLnBrk="1" hangingPunct="1"/>
            <a:r>
              <a:rPr lang="pt-BR" dirty="0" smtClean="0"/>
              <a:t>Coloque reflexão</a:t>
            </a:r>
          </a:p>
          <a:p>
            <a:pPr eaLnBrk="1" hangingPunct="1"/>
            <a:r>
              <a:rPr lang="pt-BR" dirty="0" smtClean="0"/>
              <a:t>Calculo do ponto central do polígono</a:t>
            </a:r>
          </a:p>
          <a:p>
            <a:pPr eaLnBrk="1" hangingPunct="1"/>
            <a:r>
              <a:rPr lang="pt-BR" dirty="0" smtClean="0"/>
              <a:t>Aplicar as transformações sobre um determinado objeto do mundo a escolha do usuário</a:t>
            </a:r>
          </a:p>
        </p:txBody>
      </p:sp>
    </p:spTree>
    <p:extLst>
      <p:ext uri="{BB962C8B-B14F-4D97-AF65-F5344CB8AC3E}">
        <p14:creationId xmlns:p14="http://schemas.microsoft.com/office/powerpoint/2010/main" val="4905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FCBDD05-CDA3-4975-B7C9-DCF4C28E06A1}" type="datetime1">
              <a:rPr lang="pt-BR"/>
              <a:pPr>
                <a:defRPr/>
              </a:pPr>
              <a:t>09/09/2014</a:t>
            </a:fld>
            <a:endParaRPr 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5E2CF90-6DB6-4999-A122-450AED1E23D8}" type="slidenum">
              <a:rPr lang="pt-BR"/>
              <a:pPr>
                <a:defRPr/>
              </a:pPr>
              <a:t>46</a:t>
            </a:fld>
            <a:endParaRPr lang="pt-BR"/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smtClean="0"/>
              <a:t>Referências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pt-BR" dirty="0" smtClean="0">
                <a:solidFill>
                  <a:schemeClr val="tx1"/>
                </a:solidFill>
              </a:rPr>
              <a:t>http://www.inf.ufsc.br/~awangenh/CG/index.html</a:t>
            </a:r>
          </a:p>
          <a:p>
            <a:pPr eaLnBrk="1" hangingPunct="1"/>
            <a:r>
              <a:rPr lang="pt-BR" dirty="0" smtClean="0">
                <a:solidFill>
                  <a:schemeClr val="tx1"/>
                </a:solidFill>
              </a:rPr>
              <a:t>http://www.inf.ufsc.br/~harley/</a:t>
            </a:r>
          </a:p>
          <a:p>
            <a:pPr eaLnBrk="1" hangingPunct="1"/>
            <a:r>
              <a:rPr lang="pt-BR" dirty="0" smtClean="0">
                <a:solidFill>
                  <a:schemeClr val="tx1"/>
                </a:solidFill>
              </a:rPr>
              <a:t>http://gbdi.icmc.usp.br/documentacao/apostilas/cg/</a:t>
            </a:r>
          </a:p>
        </p:txBody>
      </p:sp>
    </p:spTree>
    <p:extLst>
      <p:ext uri="{BB962C8B-B14F-4D97-AF65-F5344CB8AC3E}">
        <p14:creationId xmlns:p14="http://schemas.microsoft.com/office/powerpoint/2010/main" val="1460620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cro">
  <a:themeElements>
    <a:clrScheme name="Macro">
      <a:dk1>
        <a:sysClr val="windowText" lastClr="000000"/>
      </a:dk1>
      <a:lt1>
        <a:sysClr val="window" lastClr="FFFFFF"/>
      </a:lt1>
      <a:dk2>
        <a:srgbClr val="3F3F4D"/>
      </a:dk2>
      <a:lt2>
        <a:srgbClr val="DDDDDD"/>
      </a:lt2>
      <a:accent1>
        <a:srgbClr val="A51009"/>
      </a:accent1>
      <a:accent2>
        <a:srgbClr val="DE7014"/>
      </a:accent2>
      <a:accent3>
        <a:srgbClr val="704836"/>
      </a:accent3>
      <a:accent4>
        <a:srgbClr val="F2B431"/>
      </a:accent4>
      <a:accent5>
        <a:srgbClr val="7F221D"/>
      </a:accent5>
      <a:accent6>
        <a:srgbClr val="CDAC77"/>
      </a:accent6>
      <a:hlink>
        <a:srgbClr val="F5B123"/>
      </a:hlink>
      <a:folHlink>
        <a:srgbClr val="E19B0B"/>
      </a:folHlink>
    </a:clrScheme>
    <a:fontScheme name="Macr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cr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300000"/>
              </a:schemeClr>
            </a:gs>
            <a:gs pos="100000">
              <a:schemeClr val="phClr">
                <a:tint val="80000"/>
                <a:satMod val="15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90000"/>
                <a:satMod val="300000"/>
              </a:schemeClr>
            </a:gs>
            <a:gs pos="100000">
              <a:schemeClr val="phClr">
                <a:satMod val="150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70000"/>
              </a:srgbClr>
            </a:outerShdw>
          </a:effectLst>
        </a:effectStyle>
        <a:effectStyle>
          <a:effectLst>
            <a:outerShdw blurRad="25400" dist="254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5875" prstMaterial="softmetal">
            <a:bevelT w="25400" h="19050" prst="angle"/>
            <a:contourClr>
              <a:schemeClr val="phClr">
                <a:shade val="30000"/>
              </a:schemeClr>
            </a:contourClr>
          </a:sp3d>
        </a:effectStyle>
        <a:effectStyle>
          <a:effectLst>
            <a:outerShdw blurRad="254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contourW="19050" prstMaterial="metal">
            <a:bevelT w="63500" h="31750" prst="angle"/>
            <a:contourClr>
              <a:schemeClr val="phClr">
                <a:shade val="25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7000"/>
                <a:shade val="93000"/>
                <a:satMod val="110000"/>
                <a:lumMod val="90000"/>
              </a:schemeClr>
            </a:gs>
            <a:gs pos="76000">
              <a:schemeClr val="phClr">
                <a:tint val="85000"/>
                <a:shade val="75000"/>
                <a:satMod val="120000"/>
              </a:schemeClr>
            </a:gs>
            <a:gs pos="100000">
              <a:schemeClr val="phClr">
                <a:tint val="86000"/>
                <a:shade val="50000"/>
                <a:satMod val="13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hade val="35000"/>
                <a:satMod val="146000"/>
                <a:lumMod val="101000"/>
              </a:schemeClr>
            </a:gs>
            <a:gs pos="26000">
              <a:schemeClr val="phClr">
                <a:tint val="96000"/>
                <a:shade val="96000"/>
                <a:satMod val="190000"/>
              </a:schemeClr>
            </a:gs>
            <a:gs pos="100000">
              <a:schemeClr val="phClr">
                <a:tint val="60000"/>
                <a:shade val="90000"/>
                <a:satMod val="22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TC101859866[[fn=Macro]]</Template>
  <TotalTime>19387</TotalTime>
  <Words>2439</Words>
  <Application>Microsoft Office PowerPoint</Application>
  <PresentationFormat>Apresentação na tela (4:3)</PresentationFormat>
  <Paragraphs>272</Paragraphs>
  <Slides>46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2</vt:i4>
      </vt:variant>
      <vt:variant>
        <vt:lpstr>Títulos de slides</vt:lpstr>
      </vt:variant>
      <vt:variant>
        <vt:i4>46</vt:i4>
      </vt:variant>
    </vt:vector>
  </HeadingPairs>
  <TitlesOfParts>
    <vt:vector size="49" baseType="lpstr">
      <vt:lpstr>Macro</vt:lpstr>
      <vt:lpstr>CorelDRAW</vt:lpstr>
      <vt:lpstr>Equation</vt:lpstr>
      <vt:lpstr>Computação Gráfica</vt:lpstr>
      <vt:lpstr>Representação Vetorial x Matricial</vt:lpstr>
      <vt:lpstr>Linhas Retas</vt:lpstr>
      <vt:lpstr>Linhas Retas - Algoritmo DDA</vt:lpstr>
      <vt:lpstr>Linhas Retas - Algoritmo DDA</vt:lpstr>
      <vt:lpstr>Linhas Retas - Algoritmo DDA</vt:lpstr>
      <vt:lpstr>Linhas Retas - Algoritmo DDA</vt:lpstr>
      <vt:lpstr>Linhas Retas - Algoritmo de Bresenham</vt:lpstr>
      <vt:lpstr>Linhas Retas - Algoritmo de Bresenham</vt:lpstr>
      <vt:lpstr>Linhas Retas - Algoritmo de Bresenham</vt:lpstr>
      <vt:lpstr>Linhas Retas - Algoritmo de Bresenham</vt:lpstr>
      <vt:lpstr>Circunferências</vt:lpstr>
      <vt:lpstr>Circunferências</vt:lpstr>
      <vt:lpstr>Circunferências</vt:lpstr>
      <vt:lpstr>Sistema Interativo Básico em 2D</vt:lpstr>
      <vt:lpstr>Transformações</vt:lpstr>
      <vt:lpstr>Translação 2D</vt:lpstr>
      <vt:lpstr>Translação 2D</vt:lpstr>
      <vt:lpstr>Translação 2D</vt:lpstr>
      <vt:lpstr>Translação 2D</vt:lpstr>
      <vt:lpstr>Escalonamento 2D</vt:lpstr>
      <vt:lpstr>Escalonamento 2D</vt:lpstr>
      <vt:lpstr>Escalonamento 2D</vt:lpstr>
      <vt:lpstr>Escalonamento 2D</vt:lpstr>
      <vt:lpstr>Rotação 2D</vt:lpstr>
      <vt:lpstr>Rotação 2D</vt:lpstr>
      <vt:lpstr>Rotação 2D</vt:lpstr>
      <vt:lpstr>Reflexão</vt:lpstr>
      <vt:lpstr>Sistemas de Coordenadas Homogêneas</vt:lpstr>
      <vt:lpstr>Sistemas de Coordenadas Homogêneas</vt:lpstr>
      <vt:lpstr>Sistemas de Coordenadas Homogêneas</vt:lpstr>
      <vt:lpstr>Sistemas de Coordenadas Homogêneas</vt:lpstr>
      <vt:lpstr>Sistemas de Coordenadas Homogêneas</vt:lpstr>
      <vt:lpstr>Sistemas de Coordenadas Homogêneas</vt:lpstr>
      <vt:lpstr>Sistemas de Coordenadas Homogêneas</vt:lpstr>
      <vt:lpstr>Sistemas de Coordenadas Homogêneas</vt:lpstr>
      <vt:lpstr>Sistemas de Coordenadas Homogêneos</vt:lpstr>
      <vt:lpstr>Determinando o centro do objeto</vt:lpstr>
      <vt:lpstr>Reflexão</vt:lpstr>
      <vt:lpstr>Reflexão</vt:lpstr>
      <vt:lpstr>Reflexão</vt:lpstr>
      <vt:lpstr>Multiplicação de Matrizes</vt:lpstr>
      <vt:lpstr>Multiplicação de Matrizes</vt:lpstr>
      <vt:lpstr>Multiplicação de Matrizes</vt:lpstr>
      <vt:lpstr>Exercício</vt:lpstr>
      <vt:lpstr>Referências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Computação Gráfica</dc:title>
  <dc:creator>Pedro</dc:creator>
  <cp:lastModifiedBy>Pedro</cp:lastModifiedBy>
  <cp:revision>74</cp:revision>
  <dcterms:created xsi:type="dcterms:W3CDTF">2014-03-06T18:22:41Z</dcterms:created>
  <dcterms:modified xsi:type="dcterms:W3CDTF">2014-09-10T15:27:06Z</dcterms:modified>
</cp:coreProperties>
</file>